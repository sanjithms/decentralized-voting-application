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1" r:id="rId2"/>
    <p:sldId id="262" r:id="rId3"/>
    <p:sldId id="267" r:id="rId4"/>
    <p:sldId id="257" r:id="rId5"/>
    <p:sldId id="266" r:id="rId6"/>
    <p:sldId id="269" r:id="rId7"/>
    <p:sldId id="260" r:id="rId8"/>
    <p:sldId id="263" r:id="rId9"/>
    <p:sldId id="256" r:id="rId10"/>
    <p:sldId id="265" r:id="rId11"/>
    <p:sldId id="268"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2658B3-2DBB-444E-9F8B-38279FC53EBF}" type="datetimeFigureOut">
              <a:rPr lang="en-IN" smtClean="0"/>
              <a:t>21-10-2024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D8C4AF-8FEA-4935-A9F0-1A8525D1F264}" type="slidenum">
              <a:rPr lang="en-IN" smtClean="0"/>
              <a:t>‹#›</a:t>
            </a:fld>
            <a:endParaRPr lang="en-IN"/>
          </a:p>
        </p:txBody>
      </p:sp>
    </p:spTree>
    <p:extLst>
      <p:ext uri="{BB962C8B-B14F-4D97-AF65-F5344CB8AC3E}">
        <p14:creationId xmlns:p14="http://schemas.microsoft.com/office/powerpoint/2010/main" val="1885244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25686-ED5A-023C-941D-95F0E4D484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E933148-4835-CFBD-421F-F4E1BFD810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6BEE9E0-FCFA-82D9-287A-105ACEA28D29}"/>
              </a:ext>
            </a:extLst>
          </p:cNvPr>
          <p:cNvSpPr>
            <a:spLocks noGrp="1"/>
          </p:cNvSpPr>
          <p:nvPr>
            <p:ph type="dt" sz="half" idx="10"/>
          </p:nvPr>
        </p:nvSpPr>
        <p:spPr/>
        <p:txBody>
          <a:bodyPr/>
          <a:lstStyle/>
          <a:p>
            <a:fld id="{92C3C995-58AC-46DC-9622-A14E6B4DC053}" type="datetimeFigureOut">
              <a:rPr lang="en-IN" smtClean="0"/>
              <a:t>20-10-2024</a:t>
            </a:fld>
            <a:endParaRPr lang="en-IN"/>
          </a:p>
        </p:txBody>
      </p:sp>
      <p:sp>
        <p:nvSpPr>
          <p:cNvPr id="5" name="Footer Placeholder 4">
            <a:extLst>
              <a:ext uri="{FF2B5EF4-FFF2-40B4-BE49-F238E27FC236}">
                <a16:creationId xmlns:a16="http://schemas.microsoft.com/office/drawing/2014/main" id="{AF51E388-F449-8EE4-0C46-93C18BB47A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7AA7B8-AF51-A4B4-100B-583F0F08E837}"/>
              </a:ext>
            </a:extLst>
          </p:cNvPr>
          <p:cNvSpPr>
            <a:spLocks noGrp="1"/>
          </p:cNvSpPr>
          <p:nvPr>
            <p:ph type="sldNum" sz="quarter" idx="12"/>
          </p:nvPr>
        </p:nvSpPr>
        <p:spPr/>
        <p:txBody>
          <a:bodyPr/>
          <a:lstStyle/>
          <a:p>
            <a:fld id="{D685B4B3-B297-468A-99F4-BB40E1C5ADFE}" type="slidenum">
              <a:rPr lang="en-IN" smtClean="0"/>
              <a:t>‹#›</a:t>
            </a:fld>
            <a:endParaRPr lang="en-IN"/>
          </a:p>
        </p:txBody>
      </p:sp>
    </p:spTree>
    <p:extLst>
      <p:ext uri="{BB962C8B-B14F-4D97-AF65-F5344CB8AC3E}">
        <p14:creationId xmlns:p14="http://schemas.microsoft.com/office/powerpoint/2010/main" val="652957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65B6C-993E-74D7-0CA4-A5D425CE2F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CB13E9-349E-9EF0-62C8-9467642E80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C37610-B940-3EF1-125F-728299F491DE}"/>
              </a:ext>
            </a:extLst>
          </p:cNvPr>
          <p:cNvSpPr>
            <a:spLocks noGrp="1"/>
          </p:cNvSpPr>
          <p:nvPr>
            <p:ph type="dt" sz="half" idx="10"/>
          </p:nvPr>
        </p:nvSpPr>
        <p:spPr/>
        <p:txBody>
          <a:bodyPr/>
          <a:lstStyle/>
          <a:p>
            <a:fld id="{92C3C995-58AC-46DC-9622-A14E6B4DC053}" type="datetimeFigureOut">
              <a:rPr lang="en-IN" smtClean="0"/>
              <a:t>20-10-2024</a:t>
            </a:fld>
            <a:endParaRPr lang="en-IN"/>
          </a:p>
        </p:txBody>
      </p:sp>
      <p:sp>
        <p:nvSpPr>
          <p:cNvPr id="5" name="Footer Placeholder 4">
            <a:extLst>
              <a:ext uri="{FF2B5EF4-FFF2-40B4-BE49-F238E27FC236}">
                <a16:creationId xmlns:a16="http://schemas.microsoft.com/office/drawing/2014/main" id="{32B47D82-0A92-4EC1-7354-1188FB1C7F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E3E4D3-4D72-095C-951E-F8FC589DA8D1}"/>
              </a:ext>
            </a:extLst>
          </p:cNvPr>
          <p:cNvSpPr>
            <a:spLocks noGrp="1"/>
          </p:cNvSpPr>
          <p:nvPr>
            <p:ph type="sldNum" sz="quarter" idx="12"/>
          </p:nvPr>
        </p:nvSpPr>
        <p:spPr/>
        <p:txBody>
          <a:bodyPr/>
          <a:lstStyle/>
          <a:p>
            <a:fld id="{D685B4B3-B297-468A-99F4-BB40E1C5ADFE}" type="slidenum">
              <a:rPr lang="en-IN" smtClean="0"/>
              <a:t>‹#›</a:t>
            </a:fld>
            <a:endParaRPr lang="en-IN"/>
          </a:p>
        </p:txBody>
      </p:sp>
    </p:spTree>
    <p:extLst>
      <p:ext uri="{BB962C8B-B14F-4D97-AF65-F5344CB8AC3E}">
        <p14:creationId xmlns:p14="http://schemas.microsoft.com/office/powerpoint/2010/main" val="4096956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C4119-318B-2954-3DF3-8245A8CACA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41644EA-E3B0-0AAD-5E7F-2568789DCE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D46FF3-EC47-0283-AD42-B36719877B0B}"/>
              </a:ext>
            </a:extLst>
          </p:cNvPr>
          <p:cNvSpPr>
            <a:spLocks noGrp="1"/>
          </p:cNvSpPr>
          <p:nvPr>
            <p:ph type="dt" sz="half" idx="10"/>
          </p:nvPr>
        </p:nvSpPr>
        <p:spPr/>
        <p:txBody>
          <a:bodyPr/>
          <a:lstStyle/>
          <a:p>
            <a:fld id="{92C3C995-58AC-46DC-9622-A14E6B4DC053}" type="datetimeFigureOut">
              <a:rPr lang="en-IN" smtClean="0"/>
              <a:t>20-10-2024</a:t>
            </a:fld>
            <a:endParaRPr lang="en-IN"/>
          </a:p>
        </p:txBody>
      </p:sp>
      <p:sp>
        <p:nvSpPr>
          <p:cNvPr id="5" name="Footer Placeholder 4">
            <a:extLst>
              <a:ext uri="{FF2B5EF4-FFF2-40B4-BE49-F238E27FC236}">
                <a16:creationId xmlns:a16="http://schemas.microsoft.com/office/drawing/2014/main" id="{4B28785E-6967-FF0B-0D79-D447711153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EFA98E-6A7D-E7B8-52AB-DF5C3FBE8A10}"/>
              </a:ext>
            </a:extLst>
          </p:cNvPr>
          <p:cNvSpPr>
            <a:spLocks noGrp="1"/>
          </p:cNvSpPr>
          <p:nvPr>
            <p:ph type="sldNum" sz="quarter" idx="12"/>
          </p:nvPr>
        </p:nvSpPr>
        <p:spPr/>
        <p:txBody>
          <a:bodyPr/>
          <a:lstStyle/>
          <a:p>
            <a:fld id="{D685B4B3-B297-468A-99F4-BB40E1C5ADFE}" type="slidenum">
              <a:rPr lang="en-IN" smtClean="0"/>
              <a:t>‹#›</a:t>
            </a:fld>
            <a:endParaRPr lang="en-IN"/>
          </a:p>
        </p:txBody>
      </p:sp>
    </p:spTree>
    <p:extLst>
      <p:ext uri="{BB962C8B-B14F-4D97-AF65-F5344CB8AC3E}">
        <p14:creationId xmlns:p14="http://schemas.microsoft.com/office/powerpoint/2010/main" val="2399757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DA02-8673-79BA-1527-7EE92B05DE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DF2E0D-B610-A182-E8D6-2E410BA8D2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D73F500-31B1-50A4-09BC-4317958FE5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4106632-B110-9F9D-E00F-CF0FB03B1ED1}"/>
              </a:ext>
            </a:extLst>
          </p:cNvPr>
          <p:cNvSpPr>
            <a:spLocks noGrp="1"/>
          </p:cNvSpPr>
          <p:nvPr>
            <p:ph type="dt" sz="half" idx="10"/>
          </p:nvPr>
        </p:nvSpPr>
        <p:spPr/>
        <p:txBody>
          <a:bodyPr/>
          <a:lstStyle/>
          <a:p>
            <a:fld id="{92C3C995-58AC-46DC-9622-A14E6B4DC053}" type="datetimeFigureOut">
              <a:rPr lang="en-IN" smtClean="0"/>
              <a:t>20-10-2024</a:t>
            </a:fld>
            <a:endParaRPr lang="en-IN"/>
          </a:p>
        </p:txBody>
      </p:sp>
      <p:sp>
        <p:nvSpPr>
          <p:cNvPr id="6" name="Footer Placeholder 5">
            <a:extLst>
              <a:ext uri="{FF2B5EF4-FFF2-40B4-BE49-F238E27FC236}">
                <a16:creationId xmlns:a16="http://schemas.microsoft.com/office/drawing/2014/main" id="{2420454E-FF13-4EDC-4A3B-261E78B514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C1E033-3579-32E1-1391-26FCF37649BE}"/>
              </a:ext>
            </a:extLst>
          </p:cNvPr>
          <p:cNvSpPr>
            <a:spLocks noGrp="1"/>
          </p:cNvSpPr>
          <p:nvPr>
            <p:ph type="sldNum" sz="quarter" idx="12"/>
          </p:nvPr>
        </p:nvSpPr>
        <p:spPr/>
        <p:txBody>
          <a:bodyPr/>
          <a:lstStyle/>
          <a:p>
            <a:fld id="{D685B4B3-B297-468A-99F4-BB40E1C5ADFE}" type="slidenum">
              <a:rPr lang="en-IN" smtClean="0"/>
              <a:t>‹#›</a:t>
            </a:fld>
            <a:endParaRPr lang="en-IN"/>
          </a:p>
        </p:txBody>
      </p:sp>
    </p:spTree>
    <p:extLst>
      <p:ext uri="{BB962C8B-B14F-4D97-AF65-F5344CB8AC3E}">
        <p14:creationId xmlns:p14="http://schemas.microsoft.com/office/powerpoint/2010/main" val="227609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2F7D5-F1A4-F603-E623-0EFC02B515C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33CDF5-94E3-5EC4-DE82-2645391367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BA5958-899C-EB4D-C74E-991662F0C0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B4D2C5A-0F4C-BF84-2C68-1D4CE7F4C3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4E907E-B0A1-A4B2-40AB-26FB905D9B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9A3CBEC-572D-463E-4C77-5F8D70D02629}"/>
              </a:ext>
            </a:extLst>
          </p:cNvPr>
          <p:cNvSpPr>
            <a:spLocks noGrp="1"/>
          </p:cNvSpPr>
          <p:nvPr>
            <p:ph type="dt" sz="half" idx="10"/>
          </p:nvPr>
        </p:nvSpPr>
        <p:spPr/>
        <p:txBody>
          <a:bodyPr/>
          <a:lstStyle/>
          <a:p>
            <a:fld id="{92C3C995-58AC-46DC-9622-A14E6B4DC053}" type="datetimeFigureOut">
              <a:rPr lang="en-IN" smtClean="0"/>
              <a:t>20-10-2024</a:t>
            </a:fld>
            <a:endParaRPr lang="en-IN"/>
          </a:p>
        </p:txBody>
      </p:sp>
      <p:sp>
        <p:nvSpPr>
          <p:cNvPr id="8" name="Footer Placeholder 7">
            <a:extLst>
              <a:ext uri="{FF2B5EF4-FFF2-40B4-BE49-F238E27FC236}">
                <a16:creationId xmlns:a16="http://schemas.microsoft.com/office/drawing/2014/main" id="{03B473A5-8C9C-DDCE-5150-57BF03A7428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7312D3D-25AC-B3E4-F58C-F448DC5E4D88}"/>
              </a:ext>
            </a:extLst>
          </p:cNvPr>
          <p:cNvSpPr>
            <a:spLocks noGrp="1"/>
          </p:cNvSpPr>
          <p:nvPr>
            <p:ph type="sldNum" sz="quarter" idx="12"/>
          </p:nvPr>
        </p:nvSpPr>
        <p:spPr/>
        <p:txBody>
          <a:bodyPr/>
          <a:lstStyle/>
          <a:p>
            <a:fld id="{D685B4B3-B297-468A-99F4-BB40E1C5ADFE}" type="slidenum">
              <a:rPr lang="en-IN" smtClean="0"/>
              <a:t>‹#›</a:t>
            </a:fld>
            <a:endParaRPr lang="en-IN"/>
          </a:p>
        </p:txBody>
      </p:sp>
    </p:spTree>
    <p:extLst>
      <p:ext uri="{BB962C8B-B14F-4D97-AF65-F5344CB8AC3E}">
        <p14:creationId xmlns:p14="http://schemas.microsoft.com/office/powerpoint/2010/main" val="1709433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D7ED7-E9DF-AF6B-7135-A11220DAD90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56B87D9-3CA4-8420-7583-68B72C236233}"/>
              </a:ext>
            </a:extLst>
          </p:cNvPr>
          <p:cNvSpPr>
            <a:spLocks noGrp="1"/>
          </p:cNvSpPr>
          <p:nvPr>
            <p:ph type="dt" sz="half" idx="10"/>
          </p:nvPr>
        </p:nvSpPr>
        <p:spPr/>
        <p:txBody>
          <a:bodyPr/>
          <a:lstStyle/>
          <a:p>
            <a:fld id="{92C3C995-58AC-46DC-9622-A14E6B4DC053}" type="datetimeFigureOut">
              <a:rPr lang="en-IN" smtClean="0"/>
              <a:t>20-10-2024</a:t>
            </a:fld>
            <a:endParaRPr lang="en-IN"/>
          </a:p>
        </p:txBody>
      </p:sp>
      <p:sp>
        <p:nvSpPr>
          <p:cNvPr id="4" name="Footer Placeholder 3">
            <a:extLst>
              <a:ext uri="{FF2B5EF4-FFF2-40B4-BE49-F238E27FC236}">
                <a16:creationId xmlns:a16="http://schemas.microsoft.com/office/drawing/2014/main" id="{2F9D9ADC-41BF-C6BF-AAB3-E500E3F11AD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7D07656-8BD4-29A7-E127-D2558CCBD2C9}"/>
              </a:ext>
            </a:extLst>
          </p:cNvPr>
          <p:cNvSpPr>
            <a:spLocks noGrp="1"/>
          </p:cNvSpPr>
          <p:nvPr>
            <p:ph type="sldNum" sz="quarter" idx="12"/>
          </p:nvPr>
        </p:nvSpPr>
        <p:spPr/>
        <p:txBody>
          <a:bodyPr/>
          <a:lstStyle/>
          <a:p>
            <a:fld id="{D685B4B3-B297-468A-99F4-BB40E1C5ADFE}" type="slidenum">
              <a:rPr lang="en-IN" smtClean="0"/>
              <a:t>‹#›</a:t>
            </a:fld>
            <a:endParaRPr lang="en-IN"/>
          </a:p>
        </p:txBody>
      </p:sp>
    </p:spTree>
    <p:extLst>
      <p:ext uri="{BB962C8B-B14F-4D97-AF65-F5344CB8AC3E}">
        <p14:creationId xmlns:p14="http://schemas.microsoft.com/office/powerpoint/2010/main" val="1438502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6BCC21-03A4-F3D1-0E3E-6430C69E4ADF}"/>
              </a:ext>
            </a:extLst>
          </p:cNvPr>
          <p:cNvSpPr>
            <a:spLocks noGrp="1"/>
          </p:cNvSpPr>
          <p:nvPr>
            <p:ph type="dt" sz="half" idx="10"/>
          </p:nvPr>
        </p:nvSpPr>
        <p:spPr/>
        <p:txBody>
          <a:bodyPr/>
          <a:lstStyle/>
          <a:p>
            <a:fld id="{92C3C995-58AC-46DC-9622-A14E6B4DC053}" type="datetimeFigureOut">
              <a:rPr lang="en-IN" smtClean="0"/>
              <a:t>20-10-2024</a:t>
            </a:fld>
            <a:endParaRPr lang="en-IN"/>
          </a:p>
        </p:txBody>
      </p:sp>
      <p:sp>
        <p:nvSpPr>
          <p:cNvPr id="3" name="Footer Placeholder 2">
            <a:extLst>
              <a:ext uri="{FF2B5EF4-FFF2-40B4-BE49-F238E27FC236}">
                <a16:creationId xmlns:a16="http://schemas.microsoft.com/office/drawing/2014/main" id="{EE375D4E-87B4-1211-FD15-159F67A02B0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023688B-2E0B-4E92-DFFB-FD205A76213B}"/>
              </a:ext>
            </a:extLst>
          </p:cNvPr>
          <p:cNvSpPr>
            <a:spLocks noGrp="1"/>
          </p:cNvSpPr>
          <p:nvPr>
            <p:ph type="sldNum" sz="quarter" idx="12"/>
          </p:nvPr>
        </p:nvSpPr>
        <p:spPr/>
        <p:txBody>
          <a:bodyPr/>
          <a:lstStyle/>
          <a:p>
            <a:fld id="{D685B4B3-B297-468A-99F4-BB40E1C5ADFE}" type="slidenum">
              <a:rPr lang="en-IN" smtClean="0"/>
              <a:t>‹#›</a:t>
            </a:fld>
            <a:endParaRPr lang="en-IN"/>
          </a:p>
        </p:txBody>
      </p:sp>
    </p:spTree>
    <p:extLst>
      <p:ext uri="{BB962C8B-B14F-4D97-AF65-F5344CB8AC3E}">
        <p14:creationId xmlns:p14="http://schemas.microsoft.com/office/powerpoint/2010/main" val="822005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15E19-D8BD-A843-2960-48A776CD5A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720644C-7E39-3AF2-787E-0C58C74FB6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21F65F0-A9D6-69D0-550B-D1E13B3C0C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71BBD4-63CD-1648-2287-5C449610807B}"/>
              </a:ext>
            </a:extLst>
          </p:cNvPr>
          <p:cNvSpPr>
            <a:spLocks noGrp="1"/>
          </p:cNvSpPr>
          <p:nvPr>
            <p:ph type="dt" sz="half" idx="10"/>
          </p:nvPr>
        </p:nvSpPr>
        <p:spPr/>
        <p:txBody>
          <a:bodyPr/>
          <a:lstStyle/>
          <a:p>
            <a:fld id="{92C3C995-58AC-46DC-9622-A14E6B4DC053}" type="datetimeFigureOut">
              <a:rPr lang="en-IN" smtClean="0"/>
              <a:t>20-10-2024</a:t>
            </a:fld>
            <a:endParaRPr lang="en-IN"/>
          </a:p>
        </p:txBody>
      </p:sp>
      <p:sp>
        <p:nvSpPr>
          <p:cNvPr id="6" name="Footer Placeholder 5">
            <a:extLst>
              <a:ext uri="{FF2B5EF4-FFF2-40B4-BE49-F238E27FC236}">
                <a16:creationId xmlns:a16="http://schemas.microsoft.com/office/drawing/2014/main" id="{3423781D-34EF-A349-8507-02ACAF2D91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EDE8D3-C1BC-83CC-9716-712DD28C03C4}"/>
              </a:ext>
            </a:extLst>
          </p:cNvPr>
          <p:cNvSpPr>
            <a:spLocks noGrp="1"/>
          </p:cNvSpPr>
          <p:nvPr>
            <p:ph type="sldNum" sz="quarter" idx="12"/>
          </p:nvPr>
        </p:nvSpPr>
        <p:spPr/>
        <p:txBody>
          <a:bodyPr/>
          <a:lstStyle/>
          <a:p>
            <a:fld id="{D685B4B3-B297-468A-99F4-BB40E1C5ADFE}" type="slidenum">
              <a:rPr lang="en-IN" smtClean="0"/>
              <a:t>‹#›</a:t>
            </a:fld>
            <a:endParaRPr lang="en-IN"/>
          </a:p>
        </p:txBody>
      </p:sp>
    </p:spTree>
    <p:extLst>
      <p:ext uri="{BB962C8B-B14F-4D97-AF65-F5344CB8AC3E}">
        <p14:creationId xmlns:p14="http://schemas.microsoft.com/office/powerpoint/2010/main" val="3324786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24F45-37C0-95ED-B4C2-C039CCB1C0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92AB66C-A05F-B711-ADE5-6336A81CC1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C7FF68-67B0-F6C8-9779-62046DA637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A61866-D467-A537-34B1-781B66FDF68C}"/>
              </a:ext>
            </a:extLst>
          </p:cNvPr>
          <p:cNvSpPr>
            <a:spLocks noGrp="1"/>
          </p:cNvSpPr>
          <p:nvPr>
            <p:ph type="dt" sz="half" idx="10"/>
          </p:nvPr>
        </p:nvSpPr>
        <p:spPr/>
        <p:txBody>
          <a:bodyPr/>
          <a:lstStyle/>
          <a:p>
            <a:fld id="{92C3C995-58AC-46DC-9622-A14E6B4DC053}" type="datetimeFigureOut">
              <a:rPr lang="en-IN" smtClean="0"/>
              <a:t>20-10-2024</a:t>
            </a:fld>
            <a:endParaRPr lang="en-IN"/>
          </a:p>
        </p:txBody>
      </p:sp>
      <p:sp>
        <p:nvSpPr>
          <p:cNvPr id="6" name="Footer Placeholder 5">
            <a:extLst>
              <a:ext uri="{FF2B5EF4-FFF2-40B4-BE49-F238E27FC236}">
                <a16:creationId xmlns:a16="http://schemas.microsoft.com/office/drawing/2014/main" id="{6720FF41-4664-2020-49F8-7DDA0B8606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2361DE-1F96-0DE1-CC6E-3E53125ACCE2}"/>
              </a:ext>
            </a:extLst>
          </p:cNvPr>
          <p:cNvSpPr>
            <a:spLocks noGrp="1"/>
          </p:cNvSpPr>
          <p:nvPr>
            <p:ph type="sldNum" sz="quarter" idx="12"/>
          </p:nvPr>
        </p:nvSpPr>
        <p:spPr/>
        <p:txBody>
          <a:bodyPr/>
          <a:lstStyle/>
          <a:p>
            <a:fld id="{D685B4B3-B297-468A-99F4-BB40E1C5ADFE}" type="slidenum">
              <a:rPr lang="en-IN" smtClean="0"/>
              <a:t>‹#›</a:t>
            </a:fld>
            <a:endParaRPr lang="en-IN"/>
          </a:p>
        </p:txBody>
      </p:sp>
    </p:spTree>
    <p:extLst>
      <p:ext uri="{BB962C8B-B14F-4D97-AF65-F5344CB8AC3E}">
        <p14:creationId xmlns:p14="http://schemas.microsoft.com/office/powerpoint/2010/main" val="1357911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0264E-7060-BE9D-0023-D1843C098B8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F52769-83EA-586A-F09A-DFA21604A5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D0D2E7-89AC-6FA3-29C8-AF30E2120B5B}"/>
              </a:ext>
            </a:extLst>
          </p:cNvPr>
          <p:cNvSpPr>
            <a:spLocks noGrp="1"/>
          </p:cNvSpPr>
          <p:nvPr>
            <p:ph type="dt" sz="half" idx="10"/>
          </p:nvPr>
        </p:nvSpPr>
        <p:spPr/>
        <p:txBody>
          <a:bodyPr/>
          <a:lstStyle/>
          <a:p>
            <a:fld id="{92C3C995-58AC-46DC-9622-A14E6B4DC053}" type="datetimeFigureOut">
              <a:rPr lang="en-IN" smtClean="0"/>
              <a:t>20-10-2024</a:t>
            </a:fld>
            <a:endParaRPr lang="en-IN"/>
          </a:p>
        </p:txBody>
      </p:sp>
      <p:sp>
        <p:nvSpPr>
          <p:cNvPr id="5" name="Footer Placeholder 4">
            <a:extLst>
              <a:ext uri="{FF2B5EF4-FFF2-40B4-BE49-F238E27FC236}">
                <a16:creationId xmlns:a16="http://schemas.microsoft.com/office/drawing/2014/main" id="{FE50A3D4-BE3B-1AE8-879B-836CE007BA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B05B40-6F64-A461-EF9C-CCF92A55B1C6}"/>
              </a:ext>
            </a:extLst>
          </p:cNvPr>
          <p:cNvSpPr>
            <a:spLocks noGrp="1"/>
          </p:cNvSpPr>
          <p:nvPr>
            <p:ph type="sldNum" sz="quarter" idx="12"/>
          </p:nvPr>
        </p:nvSpPr>
        <p:spPr/>
        <p:txBody>
          <a:bodyPr/>
          <a:lstStyle/>
          <a:p>
            <a:fld id="{D685B4B3-B297-468A-99F4-BB40E1C5ADFE}" type="slidenum">
              <a:rPr lang="en-IN" smtClean="0"/>
              <a:t>‹#›</a:t>
            </a:fld>
            <a:endParaRPr lang="en-IN"/>
          </a:p>
        </p:txBody>
      </p:sp>
    </p:spTree>
    <p:extLst>
      <p:ext uri="{BB962C8B-B14F-4D97-AF65-F5344CB8AC3E}">
        <p14:creationId xmlns:p14="http://schemas.microsoft.com/office/powerpoint/2010/main" val="60291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B1A3C1-11F6-718D-76CF-628E7A5A7B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A1DC4A0-F0A7-09FF-58A1-B2F36D731E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B065A9-93D3-62A1-EEA4-F8E98BB0FA87}"/>
              </a:ext>
            </a:extLst>
          </p:cNvPr>
          <p:cNvSpPr>
            <a:spLocks noGrp="1"/>
          </p:cNvSpPr>
          <p:nvPr>
            <p:ph type="dt" sz="half" idx="10"/>
          </p:nvPr>
        </p:nvSpPr>
        <p:spPr/>
        <p:txBody>
          <a:bodyPr/>
          <a:lstStyle/>
          <a:p>
            <a:fld id="{92C3C995-58AC-46DC-9622-A14E6B4DC053}" type="datetimeFigureOut">
              <a:rPr lang="en-IN" smtClean="0"/>
              <a:t>20-10-2024</a:t>
            </a:fld>
            <a:endParaRPr lang="en-IN"/>
          </a:p>
        </p:txBody>
      </p:sp>
      <p:sp>
        <p:nvSpPr>
          <p:cNvPr id="5" name="Footer Placeholder 4">
            <a:extLst>
              <a:ext uri="{FF2B5EF4-FFF2-40B4-BE49-F238E27FC236}">
                <a16:creationId xmlns:a16="http://schemas.microsoft.com/office/drawing/2014/main" id="{355AC1CA-A22C-CC11-A1CB-A7BA0C051F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BF2C0C-B701-64E2-B75C-EA812404E02A}"/>
              </a:ext>
            </a:extLst>
          </p:cNvPr>
          <p:cNvSpPr>
            <a:spLocks noGrp="1"/>
          </p:cNvSpPr>
          <p:nvPr>
            <p:ph type="sldNum" sz="quarter" idx="12"/>
          </p:nvPr>
        </p:nvSpPr>
        <p:spPr/>
        <p:txBody>
          <a:bodyPr/>
          <a:lstStyle/>
          <a:p>
            <a:fld id="{D685B4B3-B297-468A-99F4-BB40E1C5ADFE}" type="slidenum">
              <a:rPr lang="en-IN" smtClean="0"/>
              <a:t>‹#›</a:t>
            </a:fld>
            <a:endParaRPr lang="en-IN"/>
          </a:p>
        </p:txBody>
      </p:sp>
    </p:spTree>
    <p:extLst>
      <p:ext uri="{BB962C8B-B14F-4D97-AF65-F5344CB8AC3E}">
        <p14:creationId xmlns:p14="http://schemas.microsoft.com/office/powerpoint/2010/main" val="17029372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9D9D9"/>
          </a:solidFill>
          <a:ln/>
        </p:spPr>
      </p:sp>
      <p:sp>
        <p:nvSpPr>
          <p:cNvPr id="3" name="Shape 1"/>
          <p:cNvSpPr/>
          <p:nvPr/>
        </p:nvSpPr>
        <p:spPr>
          <a:xfrm>
            <a:off x="0" y="0"/>
            <a:ext cx="12192000" cy="68580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7141796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9D9D9"/>
          </a:solidFill>
          <a:ln/>
        </p:spPr>
      </p:sp>
      <p:sp>
        <p:nvSpPr>
          <p:cNvPr id="3" name="Shape 1"/>
          <p:cNvSpPr/>
          <p:nvPr/>
        </p:nvSpPr>
        <p:spPr>
          <a:xfrm>
            <a:off x="0" y="0"/>
            <a:ext cx="12192000" cy="68580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98109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9D9D9"/>
          </a:solidFill>
          <a:ln/>
        </p:spPr>
      </p:sp>
      <p:sp>
        <p:nvSpPr>
          <p:cNvPr id="3" name="Shape 1"/>
          <p:cNvSpPr/>
          <p:nvPr/>
        </p:nvSpPr>
        <p:spPr>
          <a:xfrm>
            <a:off x="0" y="0"/>
            <a:ext cx="12192000" cy="68580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497987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5E530E-1F5C-8DAB-666B-A3702C03B5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811AC5-76B9-7B24-2701-AEFAA072DF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D668B2-9CAB-9B42-5F7A-1F4605C18C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C3C995-58AC-46DC-9622-A14E6B4DC053}" type="datetimeFigureOut">
              <a:rPr lang="en-IN" smtClean="0"/>
              <a:t>20-10-2024</a:t>
            </a:fld>
            <a:endParaRPr lang="en-IN"/>
          </a:p>
        </p:txBody>
      </p:sp>
      <p:sp>
        <p:nvSpPr>
          <p:cNvPr id="5" name="Footer Placeholder 4">
            <a:extLst>
              <a:ext uri="{FF2B5EF4-FFF2-40B4-BE49-F238E27FC236}">
                <a16:creationId xmlns:a16="http://schemas.microsoft.com/office/drawing/2014/main" id="{8388712C-3BB8-254D-E0D6-93B58ACCE6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A9F8DEF-A7BC-4151-A91B-7AD6A12641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85B4B3-B297-468A-99F4-BB40E1C5ADFE}" type="slidenum">
              <a:rPr lang="en-IN" smtClean="0"/>
              <a:t>‹#›</a:t>
            </a:fld>
            <a:endParaRPr lang="en-IN"/>
          </a:p>
        </p:txBody>
      </p:sp>
    </p:spTree>
    <p:extLst>
      <p:ext uri="{BB962C8B-B14F-4D97-AF65-F5344CB8AC3E}">
        <p14:creationId xmlns:p14="http://schemas.microsoft.com/office/powerpoint/2010/main" val="952815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6664337-75C7-CF0F-F93F-08665342F988}"/>
              </a:ext>
            </a:extLst>
          </p:cNvPr>
          <p:cNvSpPr>
            <a:spLocks noGrp="1"/>
          </p:cNvSpPr>
          <p:nvPr>
            <p:ph sz="half" idx="2"/>
          </p:nvPr>
        </p:nvSpPr>
        <p:spPr>
          <a:xfrm>
            <a:off x="5093109" y="477837"/>
            <a:ext cx="6533245" cy="5901660"/>
          </a:xfrm>
        </p:spPr>
        <p:txBody>
          <a:bodyPr>
            <a:normAutofit/>
          </a:bodyPr>
          <a:lstStyle/>
          <a:p>
            <a:pPr marL="0" indent="0">
              <a:buNone/>
            </a:pPr>
            <a:endParaRPr lang="en-IN" dirty="0"/>
          </a:p>
          <a:p>
            <a:pPr marL="0" indent="0">
              <a:buNone/>
            </a:pPr>
            <a:endParaRPr lang="en-IN" dirty="0"/>
          </a:p>
          <a:p>
            <a:pPr marL="0" indent="0">
              <a:buNone/>
            </a:pPr>
            <a:endParaRPr lang="en-IN" dirty="0"/>
          </a:p>
        </p:txBody>
      </p:sp>
      <p:pic>
        <p:nvPicPr>
          <p:cNvPr id="7" name="Image 0" descr="preencoded.png">
            <a:extLst>
              <a:ext uri="{FF2B5EF4-FFF2-40B4-BE49-F238E27FC236}">
                <a16:creationId xmlns:a16="http://schemas.microsoft.com/office/drawing/2014/main" id="{20716F7D-96EA-DAAC-7FC2-14878F144A0A}"/>
              </a:ext>
            </a:extLst>
          </p:cNvPr>
          <p:cNvPicPr>
            <a:picLocks noGrp="1" noChangeAspect="1"/>
          </p:cNvPicPr>
          <p:nvPr>
            <p:ph sz="half" idx="1"/>
          </p:nvPr>
        </p:nvPicPr>
        <p:blipFill>
          <a:blip r:embed="rId2"/>
          <a:stretch>
            <a:fillRect/>
          </a:stretch>
        </p:blipFill>
        <p:spPr>
          <a:xfrm>
            <a:off x="565646" y="477837"/>
            <a:ext cx="4527465" cy="5902325"/>
          </a:xfrm>
          <a:prstGeom prst="rect">
            <a:avLst/>
          </a:prstGeom>
        </p:spPr>
      </p:pic>
      <p:sp>
        <p:nvSpPr>
          <p:cNvPr id="8" name="Text 1">
            <a:extLst>
              <a:ext uri="{FF2B5EF4-FFF2-40B4-BE49-F238E27FC236}">
                <a16:creationId xmlns:a16="http://schemas.microsoft.com/office/drawing/2014/main" id="{66DF044F-C4B3-3123-F1B4-BC1880533337}"/>
              </a:ext>
            </a:extLst>
          </p:cNvPr>
          <p:cNvSpPr/>
          <p:nvPr/>
        </p:nvSpPr>
        <p:spPr>
          <a:xfrm>
            <a:off x="5504862" y="3428667"/>
            <a:ext cx="6533245" cy="2108128"/>
          </a:xfrm>
          <a:prstGeom prst="rect">
            <a:avLst/>
          </a:prstGeom>
          <a:noFill/>
          <a:ln/>
        </p:spPr>
        <p:txBody>
          <a:bodyPr wrap="square" lIns="0" tIns="0" rIns="0" bIns="0" rtlCol="0" anchor="t"/>
          <a:lstStyle/>
          <a:p>
            <a:pPr marL="0" indent="0">
              <a:lnSpc>
                <a:spcPts val="3100"/>
              </a:lnSpc>
              <a:buNone/>
            </a:pPr>
            <a:r>
              <a:rPr lang="en-US" sz="2000" dirty="0"/>
              <a:t>This project demonstrates the development of a </a:t>
            </a:r>
            <a:r>
              <a:rPr lang="en-US" sz="2000" b="1" dirty="0"/>
              <a:t>Decentralized Voting Application</a:t>
            </a:r>
            <a:r>
              <a:rPr lang="en-US" sz="2000" dirty="0"/>
              <a:t> using </a:t>
            </a:r>
            <a:r>
              <a:rPr lang="en-US" sz="2000" b="1" dirty="0"/>
              <a:t>Solidity</a:t>
            </a:r>
            <a:r>
              <a:rPr lang="en-US" sz="2000" dirty="0"/>
              <a:t> for smart contract development and </a:t>
            </a:r>
            <a:r>
              <a:rPr lang="en-US" sz="2000" b="1" dirty="0"/>
              <a:t>ReactJS</a:t>
            </a:r>
            <a:r>
              <a:rPr lang="en-US" sz="2000" dirty="0"/>
              <a:t> for the front-end interface, harnessing the power of </a:t>
            </a:r>
            <a:r>
              <a:rPr lang="en-US" sz="2000" b="1" dirty="0"/>
              <a:t>blockchain technology</a:t>
            </a:r>
            <a:r>
              <a:rPr lang="en-US" sz="2000" dirty="0"/>
              <a:t> via the </a:t>
            </a:r>
            <a:r>
              <a:rPr lang="en-US" sz="2000" b="1" dirty="0"/>
              <a:t>Ethereum</a:t>
            </a:r>
            <a:r>
              <a:rPr lang="en-US" sz="2000" dirty="0"/>
              <a:t> network.</a:t>
            </a:r>
            <a:endParaRPr lang="en-US" sz="1900" dirty="0"/>
          </a:p>
        </p:txBody>
      </p:sp>
      <p:sp>
        <p:nvSpPr>
          <p:cNvPr id="9" name="Text 0">
            <a:extLst>
              <a:ext uri="{FF2B5EF4-FFF2-40B4-BE49-F238E27FC236}">
                <a16:creationId xmlns:a16="http://schemas.microsoft.com/office/drawing/2014/main" id="{AA785C93-F4FC-E6C2-D6D2-2E78BF2B12EB}"/>
              </a:ext>
            </a:extLst>
          </p:cNvPr>
          <p:cNvSpPr/>
          <p:nvPr/>
        </p:nvSpPr>
        <p:spPr>
          <a:xfrm>
            <a:off x="5504862" y="1393169"/>
            <a:ext cx="6533245" cy="1703308"/>
          </a:xfrm>
          <a:prstGeom prst="rect">
            <a:avLst/>
          </a:prstGeom>
          <a:noFill/>
          <a:ln/>
        </p:spPr>
        <p:txBody>
          <a:bodyPr wrap="square" lIns="0" tIns="0" rIns="0" bIns="0" rtlCol="0" anchor="t"/>
          <a:lstStyle/>
          <a:p>
            <a:pPr marL="0" indent="0">
              <a:lnSpc>
                <a:spcPts val="6700"/>
              </a:lnSpc>
              <a:buNone/>
            </a:pPr>
            <a:r>
              <a:rPr lang="en-US" sz="5350" dirty="0">
                <a:solidFill>
                  <a:srgbClr val="383838"/>
                </a:solidFill>
                <a:latin typeface="Patrick Hand" pitchFamily="34" charset="0"/>
                <a:ea typeface="Patrick Hand" pitchFamily="34" charset="-122"/>
                <a:cs typeface="Patrick Hand" pitchFamily="34" charset="-120"/>
              </a:rPr>
              <a:t>Decentralized Voting Application</a:t>
            </a:r>
            <a:endParaRPr lang="en-US" sz="5350" dirty="0"/>
          </a:p>
        </p:txBody>
      </p:sp>
    </p:spTree>
    <p:extLst>
      <p:ext uri="{BB962C8B-B14F-4D97-AF65-F5344CB8AC3E}">
        <p14:creationId xmlns:p14="http://schemas.microsoft.com/office/powerpoint/2010/main" val="2038137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2000" cy="6858000"/>
          </a:xfrm>
          <a:prstGeom prst="rect">
            <a:avLst/>
          </a:prstGeom>
        </p:spPr>
      </p:pic>
      <p:sp>
        <p:nvSpPr>
          <p:cNvPr id="3" name="Text 0"/>
          <p:cNvSpPr/>
          <p:nvPr/>
        </p:nvSpPr>
        <p:spPr>
          <a:xfrm>
            <a:off x="5292031" y="985937"/>
            <a:ext cx="5441653" cy="514251"/>
          </a:xfrm>
          <a:prstGeom prst="rect">
            <a:avLst/>
          </a:prstGeom>
          <a:noFill/>
          <a:ln/>
        </p:spPr>
        <p:txBody>
          <a:bodyPr wrap="none" lIns="0" tIns="0" rIns="0" bIns="0" rtlCol="0" anchor="t"/>
          <a:lstStyle/>
          <a:p>
            <a:pPr>
              <a:lnSpc>
                <a:spcPts val="4042"/>
              </a:lnSpc>
            </a:pPr>
            <a:r>
              <a:rPr lang="en-US" sz="3208" dirty="0">
                <a:solidFill>
                  <a:srgbClr val="383838"/>
                </a:solidFill>
                <a:latin typeface="Patrick Hand" pitchFamily="34" charset="0"/>
                <a:ea typeface="Patrick Hand" pitchFamily="34" charset="-122"/>
                <a:cs typeface="Patrick Hand" pitchFamily="34" charset="-120"/>
              </a:rPr>
              <a:t>Introduction to Decentralized Voting</a:t>
            </a:r>
            <a:endParaRPr lang="en-US" sz="3208" dirty="0"/>
          </a:p>
        </p:txBody>
      </p:sp>
      <p:sp>
        <p:nvSpPr>
          <p:cNvPr id="4" name="Shape 1"/>
          <p:cNvSpPr/>
          <p:nvPr/>
        </p:nvSpPr>
        <p:spPr>
          <a:xfrm>
            <a:off x="5292031" y="2040136"/>
            <a:ext cx="462856" cy="462856"/>
          </a:xfrm>
          <a:prstGeom prst="roundRect">
            <a:avLst>
              <a:gd name="adj" fmla="val 18669"/>
            </a:avLst>
          </a:prstGeom>
          <a:solidFill>
            <a:srgbClr val="E6E6E6"/>
          </a:solidFill>
          <a:ln w="15240">
            <a:solidFill>
              <a:srgbClr val="CCCCCC"/>
            </a:solidFill>
            <a:prstDash val="solid"/>
          </a:ln>
        </p:spPr>
      </p:sp>
      <p:sp>
        <p:nvSpPr>
          <p:cNvPr id="5" name="Text 2"/>
          <p:cNvSpPr/>
          <p:nvPr/>
        </p:nvSpPr>
        <p:spPr>
          <a:xfrm>
            <a:off x="5478562" y="2148086"/>
            <a:ext cx="89694" cy="246857"/>
          </a:xfrm>
          <a:prstGeom prst="rect">
            <a:avLst/>
          </a:prstGeom>
          <a:noFill/>
          <a:ln/>
        </p:spPr>
        <p:txBody>
          <a:bodyPr wrap="none" lIns="0" tIns="0" rIns="0" bIns="0" rtlCol="0" anchor="t"/>
          <a:lstStyle/>
          <a:p>
            <a:pPr algn="ctr">
              <a:lnSpc>
                <a:spcPts val="1917"/>
              </a:lnSpc>
            </a:pPr>
            <a:r>
              <a:rPr lang="en-US" sz="1917" dirty="0">
                <a:solidFill>
                  <a:srgbClr val="383838"/>
                </a:solidFill>
                <a:latin typeface="Patrick Hand" pitchFamily="34" charset="0"/>
                <a:ea typeface="Patrick Hand" pitchFamily="34" charset="-122"/>
                <a:cs typeface="Patrick Hand" pitchFamily="34" charset="-120"/>
              </a:rPr>
              <a:t>1</a:t>
            </a:r>
            <a:endParaRPr lang="en-US" sz="1917" dirty="0"/>
          </a:p>
        </p:txBody>
      </p:sp>
      <p:sp>
        <p:nvSpPr>
          <p:cNvPr id="6" name="Text 3"/>
          <p:cNvSpPr/>
          <p:nvPr/>
        </p:nvSpPr>
        <p:spPr>
          <a:xfrm>
            <a:off x="5960567" y="2040136"/>
            <a:ext cx="2057400" cy="257175"/>
          </a:xfrm>
          <a:prstGeom prst="rect">
            <a:avLst/>
          </a:prstGeom>
          <a:noFill/>
          <a:ln/>
        </p:spPr>
        <p:txBody>
          <a:bodyPr wrap="none" lIns="0" tIns="0" rIns="0" bIns="0" rtlCol="0" anchor="t"/>
          <a:lstStyle/>
          <a:p>
            <a:pPr>
              <a:lnSpc>
                <a:spcPts val="2000"/>
              </a:lnSpc>
            </a:pPr>
            <a:r>
              <a:rPr lang="en-US" sz="1583" dirty="0">
                <a:solidFill>
                  <a:srgbClr val="383838"/>
                </a:solidFill>
                <a:latin typeface="Patrick Hand" pitchFamily="34" charset="0"/>
                <a:ea typeface="Patrick Hand" pitchFamily="34" charset="-122"/>
                <a:cs typeface="Patrick Hand" pitchFamily="34" charset="-120"/>
              </a:rPr>
              <a:t>Transparent Voting</a:t>
            </a:r>
            <a:endParaRPr lang="en-US" sz="1583" dirty="0"/>
          </a:p>
        </p:txBody>
      </p:sp>
      <p:sp>
        <p:nvSpPr>
          <p:cNvPr id="7" name="Text 4"/>
          <p:cNvSpPr/>
          <p:nvPr/>
        </p:nvSpPr>
        <p:spPr>
          <a:xfrm>
            <a:off x="5960567" y="2420739"/>
            <a:ext cx="2318643" cy="1975247"/>
          </a:xfrm>
          <a:prstGeom prst="rect">
            <a:avLst/>
          </a:prstGeom>
          <a:noFill/>
          <a:ln/>
        </p:spPr>
        <p:txBody>
          <a:bodyPr wrap="square" lIns="0" tIns="0" rIns="0" bIns="0" rtlCol="0" anchor="t"/>
          <a:lstStyle/>
          <a:p>
            <a:pPr>
              <a:lnSpc>
                <a:spcPts val="2583"/>
              </a:lnSpc>
            </a:pPr>
            <a:r>
              <a:rPr lang="en-US" sz="1583" dirty="0">
                <a:solidFill>
                  <a:srgbClr val="383838"/>
                </a:solidFill>
                <a:latin typeface="Patrick Hand" pitchFamily="34" charset="0"/>
                <a:ea typeface="Patrick Hand" pitchFamily="34" charset="-122"/>
                <a:cs typeface="Patrick Hand" pitchFamily="34" charset="-120"/>
              </a:rPr>
              <a:t>The decentralized nature of the application ensures that all votes are recorded on the blockchain, creating a transparent and immutable audit trail.</a:t>
            </a:r>
            <a:endParaRPr lang="en-US" sz="1583" dirty="0"/>
          </a:p>
        </p:txBody>
      </p:sp>
      <p:sp>
        <p:nvSpPr>
          <p:cNvPr id="8" name="Shape 5"/>
          <p:cNvSpPr/>
          <p:nvPr/>
        </p:nvSpPr>
        <p:spPr>
          <a:xfrm>
            <a:off x="8484890" y="2040136"/>
            <a:ext cx="462856" cy="462856"/>
          </a:xfrm>
          <a:prstGeom prst="roundRect">
            <a:avLst>
              <a:gd name="adj" fmla="val 18669"/>
            </a:avLst>
          </a:prstGeom>
          <a:solidFill>
            <a:srgbClr val="E6E6E6"/>
          </a:solidFill>
          <a:ln w="15240">
            <a:solidFill>
              <a:srgbClr val="CCCCCC"/>
            </a:solidFill>
            <a:prstDash val="solid"/>
          </a:ln>
        </p:spPr>
      </p:sp>
      <p:sp>
        <p:nvSpPr>
          <p:cNvPr id="9" name="Text 6"/>
          <p:cNvSpPr/>
          <p:nvPr/>
        </p:nvSpPr>
        <p:spPr>
          <a:xfrm>
            <a:off x="8658523" y="2148086"/>
            <a:ext cx="115590" cy="246857"/>
          </a:xfrm>
          <a:prstGeom prst="rect">
            <a:avLst/>
          </a:prstGeom>
          <a:noFill/>
          <a:ln/>
        </p:spPr>
        <p:txBody>
          <a:bodyPr wrap="none" lIns="0" tIns="0" rIns="0" bIns="0" rtlCol="0" anchor="t"/>
          <a:lstStyle/>
          <a:p>
            <a:pPr algn="ctr">
              <a:lnSpc>
                <a:spcPts val="1917"/>
              </a:lnSpc>
            </a:pPr>
            <a:r>
              <a:rPr lang="en-US" sz="1917" dirty="0">
                <a:solidFill>
                  <a:srgbClr val="383838"/>
                </a:solidFill>
                <a:latin typeface="Patrick Hand" pitchFamily="34" charset="0"/>
                <a:ea typeface="Patrick Hand" pitchFamily="34" charset="-122"/>
                <a:cs typeface="Patrick Hand" pitchFamily="34" charset="-120"/>
              </a:rPr>
              <a:t>2</a:t>
            </a:r>
            <a:endParaRPr lang="en-US" sz="1917" dirty="0"/>
          </a:p>
        </p:txBody>
      </p:sp>
      <p:sp>
        <p:nvSpPr>
          <p:cNvPr id="10" name="Text 7"/>
          <p:cNvSpPr/>
          <p:nvPr/>
        </p:nvSpPr>
        <p:spPr>
          <a:xfrm>
            <a:off x="9153426" y="2040136"/>
            <a:ext cx="2067719" cy="257175"/>
          </a:xfrm>
          <a:prstGeom prst="rect">
            <a:avLst/>
          </a:prstGeom>
          <a:noFill/>
          <a:ln/>
        </p:spPr>
        <p:txBody>
          <a:bodyPr wrap="none" lIns="0" tIns="0" rIns="0" bIns="0" rtlCol="0" anchor="t"/>
          <a:lstStyle/>
          <a:p>
            <a:pPr>
              <a:lnSpc>
                <a:spcPts val="2000"/>
              </a:lnSpc>
            </a:pPr>
            <a:r>
              <a:rPr lang="en-US" sz="1583" dirty="0">
                <a:solidFill>
                  <a:srgbClr val="383838"/>
                </a:solidFill>
                <a:latin typeface="Patrick Hand" pitchFamily="34" charset="0"/>
                <a:ea typeface="Patrick Hand" pitchFamily="34" charset="-122"/>
                <a:cs typeface="Patrick Hand" pitchFamily="34" charset="-120"/>
              </a:rPr>
              <a:t>Secure Identity Verification</a:t>
            </a:r>
            <a:endParaRPr lang="en-US" sz="1583" dirty="0"/>
          </a:p>
        </p:txBody>
      </p:sp>
      <p:sp>
        <p:nvSpPr>
          <p:cNvPr id="11" name="Text 8"/>
          <p:cNvSpPr/>
          <p:nvPr/>
        </p:nvSpPr>
        <p:spPr>
          <a:xfrm>
            <a:off x="9153426" y="2420740"/>
            <a:ext cx="2318643" cy="1646039"/>
          </a:xfrm>
          <a:prstGeom prst="rect">
            <a:avLst/>
          </a:prstGeom>
          <a:noFill/>
          <a:ln/>
        </p:spPr>
        <p:txBody>
          <a:bodyPr wrap="square" lIns="0" tIns="0" rIns="0" bIns="0" rtlCol="0" anchor="t"/>
          <a:lstStyle/>
          <a:p>
            <a:pPr>
              <a:lnSpc>
                <a:spcPts val="2583"/>
              </a:lnSpc>
            </a:pPr>
            <a:r>
              <a:rPr lang="en-US" sz="1583" dirty="0">
                <a:solidFill>
                  <a:srgbClr val="383838"/>
                </a:solidFill>
                <a:latin typeface="Patrick Hand" pitchFamily="34" charset="0"/>
                <a:ea typeface="Patrick Hand" pitchFamily="34" charset="-122"/>
                <a:cs typeface="Patrick Hand" pitchFamily="34" charset="-120"/>
              </a:rPr>
              <a:t>Cryptographic techniques are used to verify voter identities and prevent fraudulent voting, ensuring the integrity of the electoral process.</a:t>
            </a:r>
            <a:endParaRPr lang="en-US" sz="1583" dirty="0"/>
          </a:p>
        </p:txBody>
      </p:sp>
      <p:sp>
        <p:nvSpPr>
          <p:cNvPr id="12" name="Shape 9"/>
          <p:cNvSpPr/>
          <p:nvPr/>
        </p:nvSpPr>
        <p:spPr>
          <a:xfrm>
            <a:off x="5292031" y="4833045"/>
            <a:ext cx="462856" cy="462856"/>
          </a:xfrm>
          <a:prstGeom prst="roundRect">
            <a:avLst>
              <a:gd name="adj" fmla="val 18669"/>
            </a:avLst>
          </a:prstGeom>
          <a:solidFill>
            <a:srgbClr val="E6E6E6"/>
          </a:solidFill>
          <a:ln w="15240">
            <a:solidFill>
              <a:srgbClr val="CCCCCC"/>
            </a:solidFill>
            <a:prstDash val="solid"/>
          </a:ln>
        </p:spPr>
      </p:sp>
      <p:sp>
        <p:nvSpPr>
          <p:cNvPr id="13" name="Text 10"/>
          <p:cNvSpPr/>
          <p:nvPr/>
        </p:nvSpPr>
        <p:spPr>
          <a:xfrm>
            <a:off x="5468145" y="4940994"/>
            <a:ext cx="110629" cy="246857"/>
          </a:xfrm>
          <a:prstGeom prst="rect">
            <a:avLst/>
          </a:prstGeom>
          <a:noFill/>
          <a:ln/>
        </p:spPr>
        <p:txBody>
          <a:bodyPr wrap="none" lIns="0" tIns="0" rIns="0" bIns="0" rtlCol="0" anchor="t"/>
          <a:lstStyle/>
          <a:p>
            <a:pPr algn="ctr">
              <a:lnSpc>
                <a:spcPts val="1917"/>
              </a:lnSpc>
            </a:pPr>
            <a:r>
              <a:rPr lang="en-US" sz="1917" dirty="0">
                <a:solidFill>
                  <a:srgbClr val="383838"/>
                </a:solidFill>
                <a:latin typeface="Patrick Hand" pitchFamily="34" charset="0"/>
                <a:ea typeface="Patrick Hand" pitchFamily="34" charset="-122"/>
                <a:cs typeface="Patrick Hand" pitchFamily="34" charset="-120"/>
              </a:rPr>
              <a:t>3</a:t>
            </a:r>
            <a:endParaRPr lang="en-US" sz="1917" dirty="0"/>
          </a:p>
        </p:txBody>
      </p:sp>
      <p:sp>
        <p:nvSpPr>
          <p:cNvPr id="14" name="Text 11"/>
          <p:cNvSpPr/>
          <p:nvPr/>
        </p:nvSpPr>
        <p:spPr>
          <a:xfrm>
            <a:off x="5960567" y="4833044"/>
            <a:ext cx="2057400" cy="257175"/>
          </a:xfrm>
          <a:prstGeom prst="rect">
            <a:avLst/>
          </a:prstGeom>
          <a:noFill/>
          <a:ln/>
        </p:spPr>
        <p:txBody>
          <a:bodyPr wrap="none" lIns="0" tIns="0" rIns="0" bIns="0" rtlCol="0" anchor="t"/>
          <a:lstStyle/>
          <a:p>
            <a:pPr>
              <a:lnSpc>
                <a:spcPts val="2000"/>
              </a:lnSpc>
            </a:pPr>
            <a:r>
              <a:rPr lang="en-US" sz="1583" dirty="0">
                <a:solidFill>
                  <a:srgbClr val="383838"/>
                </a:solidFill>
                <a:latin typeface="Patrick Hand" pitchFamily="34" charset="0"/>
                <a:ea typeface="Patrick Hand" pitchFamily="34" charset="-122"/>
                <a:cs typeface="Patrick Hand" pitchFamily="34" charset="-120"/>
              </a:rPr>
              <a:t>Decentralized Governance</a:t>
            </a:r>
            <a:endParaRPr lang="en-US" sz="1583" dirty="0"/>
          </a:p>
        </p:txBody>
      </p:sp>
      <p:sp>
        <p:nvSpPr>
          <p:cNvPr id="15" name="Text 12"/>
          <p:cNvSpPr/>
          <p:nvPr/>
        </p:nvSpPr>
        <p:spPr>
          <a:xfrm>
            <a:off x="5960567" y="5213648"/>
            <a:ext cx="5511403" cy="658416"/>
          </a:xfrm>
          <a:prstGeom prst="rect">
            <a:avLst/>
          </a:prstGeom>
          <a:noFill/>
          <a:ln/>
        </p:spPr>
        <p:txBody>
          <a:bodyPr wrap="square" lIns="0" tIns="0" rIns="0" bIns="0" rtlCol="0" anchor="t"/>
          <a:lstStyle/>
          <a:p>
            <a:pPr>
              <a:lnSpc>
                <a:spcPts val="2583"/>
              </a:lnSpc>
            </a:pPr>
            <a:r>
              <a:rPr lang="en-US" sz="1583" dirty="0">
                <a:solidFill>
                  <a:srgbClr val="383838"/>
                </a:solidFill>
                <a:latin typeface="Patrick Hand" pitchFamily="34" charset="0"/>
                <a:ea typeface="Patrick Hand" pitchFamily="34" charset="-122"/>
                <a:cs typeface="Patrick Hand" pitchFamily="34" charset="-120"/>
              </a:rPr>
              <a:t>The voting process is governed by smart contracts, eliminating the need for centralized authorities and reducing the risk of manipulation.</a:t>
            </a:r>
            <a:endParaRPr lang="en-US" sz="158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D34EE-D9CF-D451-A7E0-E33CABE3C133}"/>
              </a:ext>
            </a:extLst>
          </p:cNvPr>
          <p:cNvSpPr>
            <a:spLocks noGrp="1"/>
          </p:cNvSpPr>
          <p:nvPr>
            <p:ph type="title"/>
          </p:nvPr>
        </p:nvSpPr>
        <p:spPr/>
        <p:txBody>
          <a:bodyPr/>
          <a:lstStyle/>
          <a:p>
            <a:r>
              <a:rPr lang="en-IN" dirty="0">
                <a:latin typeface="Patrick Hand" panose="00000500000000000000" pitchFamily="2" charset="0"/>
              </a:rPr>
              <a:t>Technology Stack</a:t>
            </a:r>
          </a:p>
        </p:txBody>
      </p:sp>
      <p:sp>
        <p:nvSpPr>
          <p:cNvPr id="4" name="Rectangle 1">
            <a:extLst>
              <a:ext uri="{FF2B5EF4-FFF2-40B4-BE49-F238E27FC236}">
                <a16:creationId xmlns:a16="http://schemas.microsoft.com/office/drawing/2014/main" id="{1C3F2FE1-ABD2-7E72-5BB1-FD9D0FD84166}"/>
              </a:ext>
            </a:extLst>
          </p:cNvPr>
          <p:cNvSpPr>
            <a:spLocks noGrp="1" noChangeArrowheads="1"/>
          </p:cNvSpPr>
          <p:nvPr>
            <p:ph idx="1"/>
          </p:nvPr>
        </p:nvSpPr>
        <p:spPr bwMode="auto">
          <a:xfrm>
            <a:off x="838200" y="1690688"/>
            <a:ext cx="9043219"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Patrick Hand" panose="00000500000000000000" pitchFamily="2" charset="0"/>
              </a:rPr>
              <a:t>Smart Contract Development:</a:t>
            </a:r>
            <a:endParaRPr kumimoji="0" lang="en-US" altLang="en-US" sz="2400" b="0" i="0" u="none" strike="noStrike" cap="none" normalizeH="0" baseline="0" dirty="0">
              <a:ln>
                <a:noFill/>
              </a:ln>
              <a:solidFill>
                <a:schemeClr val="tx1"/>
              </a:solidFill>
              <a:effectLst/>
              <a:latin typeface="Patrick Hand"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latin typeface="Patrick Hand" panose="00000500000000000000" pitchFamily="2" charset="0"/>
              </a:rPr>
              <a:t>     </a:t>
            </a:r>
            <a:r>
              <a:rPr kumimoji="0" lang="en-US" altLang="en-US" sz="1800" b="1" i="0" u="none" strike="noStrike" cap="none" normalizeH="0" baseline="0" dirty="0">
                <a:ln>
                  <a:noFill/>
                </a:ln>
                <a:solidFill>
                  <a:schemeClr val="tx1"/>
                </a:solidFill>
                <a:effectLst/>
                <a:latin typeface="Patrick Hand" panose="00000500000000000000" pitchFamily="2" charset="0"/>
              </a:rPr>
              <a:t>      Solidity:</a:t>
            </a:r>
            <a:r>
              <a:rPr kumimoji="0" lang="en-US" altLang="en-US" sz="1800" b="0" i="0" u="none" strike="noStrike" cap="none" normalizeH="0" baseline="0" dirty="0">
                <a:ln>
                  <a:noFill/>
                </a:ln>
                <a:solidFill>
                  <a:schemeClr val="tx1"/>
                </a:solidFill>
                <a:effectLst/>
                <a:latin typeface="Patrick Hand" panose="00000500000000000000" pitchFamily="2" charset="0"/>
              </a:rPr>
              <a:t> Language for writing smart contracts on Ethereum.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Patrick Hand"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Patrick Hand" panose="00000500000000000000" pitchFamily="2" charset="0"/>
              </a:rPr>
              <a:t>Frontend Development:</a:t>
            </a:r>
            <a:endParaRPr kumimoji="0" lang="en-US" altLang="en-US" sz="2400" b="0" i="0" u="none" strike="noStrike" cap="none" normalizeH="0" baseline="0" dirty="0">
              <a:ln>
                <a:noFill/>
              </a:ln>
              <a:solidFill>
                <a:schemeClr val="tx1"/>
              </a:solidFill>
              <a:effectLst/>
              <a:latin typeface="Patrick Hand"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Patrick Hand" panose="00000500000000000000" pitchFamily="2" charset="0"/>
              </a:rPr>
              <a:t>            ReactJS:</a:t>
            </a:r>
            <a:r>
              <a:rPr kumimoji="0" lang="en-US" altLang="en-US" sz="1800" b="0" i="0" u="none" strike="noStrike" cap="none" normalizeH="0" baseline="0" dirty="0">
                <a:ln>
                  <a:noFill/>
                </a:ln>
                <a:solidFill>
                  <a:schemeClr val="tx1"/>
                </a:solidFill>
                <a:effectLst/>
                <a:latin typeface="Patrick Hand" panose="00000500000000000000" pitchFamily="2" charset="0"/>
              </a:rPr>
              <a:t> Library for building user interfaces.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Patrick Hand"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Patrick Hand" panose="00000500000000000000" pitchFamily="2" charset="0"/>
              </a:rPr>
              <a:t>Blockchain Network:</a:t>
            </a:r>
            <a:endParaRPr kumimoji="0" lang="en-US" altLang="en-US" sz="2400" b="0" i="0" u="none" strike="noStrike" cap="none" normalizeH="0" baseline="0" dirty="0">
              <a:ln>
                <a:noFill/>
              </a:ln>
              <a:solidFill>
                <a:schemeClr val="tx1"/>
              </a:solidFill>
              <a:effectLst/>
              <a:latin typeface="Patrick Hand"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latin typeface="Patrick Hand" panose="00000500000000000000" pitchFamily="2" charset="0"/>
              </a:rPr>
              <a:t>           </a:t>
            </a:r>
            <a:r>
              <a:rPr kumimoji="0" lang="en-US" altLang="en-US" sz="1800" b="1" i="0" u="none" strike="noStrike" cap="none" normalizeH="0" baseline="0" dirty="0">
                <a:ln>
                  <a:noFill/>
                </a:ln>
                <a:solidFill>
                  <a:schemeClr val="tx1"/>
                </a:solidFill>
                <a:effectLst/>
                <a:latin typeface="Patrick Hand" panose="00000500000000000000" pitchFamily="2" charset="0"/>
              </a:rPr>
              <a:t>Ethereum:</a:t>
            </a:r>
            <a:r>
              <a:rPr kumimoji="0" lang="en-US" altLang="en-US" sz="1800" b="0" i="0" u="none" strike="noStrike" cap="none" normalizeH="0" baseline="0" dirty="0">
                <a:ln>
                  <a:noFill/>
                </a:ln>
                <a:solidFill>
                  <a:schemeClr val="tx1"/>
                </a:solidFill>
                <a:effectLst/>
                <a:latin typeface="Patrick Hand" panose="00000500000000000000" pitchFamily="2" charset="0"/>
              </a:rPr>
              <a:t> Decentralized platform for executing smart contracts.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Patrick Hand"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Patrick Hand" panose="00000500000000000000" pitchFamily="2" charset="0"/>
              </a:rPr>
              <a:t>Other Tools:</a:t>
            </a:r>
            <a:endParaRPr kumimoji="0" lang="en-US" altLang="en-US" sz="2400" b="0" i="0" u="none" strike="noStrike" cap="none" normalizeH="0" baseline="0" dirty="0">
              <a:ln>
                <a:noFill/>
              </a:ln>
              <a:solidFill>
                <a:schemeClr val="tx1"/>
              </a:solidFill>
              <a:effectLst/>
              <a:latin typeface="Patrick Hand"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Patrick Hand" panose="00000500000000000000" pitchFamily="2" charset="0"/>
              </a:rPr>
              <a:t>           Truffle Suite:</a:t>
            </a:r>
            <a:r>
              <a:rPr kumimoji="0" lang="en-US" altLang="en-US" sz="1800" b="0" i="0" u="none" strike="noStrike" cap="none" normalizeH="0" baseline="0" dirty="0">
                <a:ln>
                  <a:noFill/>
                </a:ln>
                <a:solidFill>
                  <a:schemeClr val="tx1"/>
                </a:solidFill>
                <a:effectLst/>
                <a:latin typeface="Patrick Hand" panose="00000500000000000000" pitchFamily="2" charset="0"/>
              </a:rPr>
              <a:t> Development environment for Ethereum.</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Patrick Hand" panose="00000500000000000000" pitchFamily="2" charset="0"/>
              </a:rPr>
              <a:t>            MetaMask:</a:t>
            </a:r>
            <a:r>
              <a:rPr kumimoji="0" lang="en-US" altLang="en-US" sz="1800" b="0" i="0" u="none" strike="noStrike" cap="none" normalizeH="0" baseline="0" dirty="0">
                <a:ln>
                  <a:noFill/>
                </a:ln>
                <a:solidFill>
                  <a:schemeClr val="tx1"/>
                </a:solidFill>
                <a:effectLst/>
                <a:latin typeface="Patrick Hand" panose="00000500000000000000" pitchFamily="2" charset="0"/>
              </a:rPr>
              <a:t> Ethereum wallet for managing identities and transactions.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65557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848FE85-C875-4E37-E548-A050E55466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3289" y="83156"/>
            <a:ext cx="11198943" cy="6570543"/>
          </a:xfrm>
        </p:spPr>
      </p:pic>
    </p:spTree>
    <p:extLst>
      <p:ext uri="{BB962C8B-B14F-4D97-AF65-F5344CB8AC3E}">
        <p14:creationId xmlns:p14="http://schemas.microsoft.com/office/powerpoint/2010/main" val="2429492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34AE8-A665-74B8-FCEF-EAC4D6082523}"/>
              </a:ext>
            </a:extLst>
          </p:cNvPr>
          <p:cNvSpPr>
            <a:spLocks noGrp="1"/>
          </p:cNvSpPr>
          <p:nvPr>
            <p:ph type="title"/>
          </p:nvPr>
        </p:nvSpPr>
        <p:spPr/>
        <p:txBody>
          <a:bodyPr/>
          <a:lstStyle/>
          <a:p>
            <a:r>
              <a:rPr lang="en-IN" dirty="0">
                <a:latin typeface="Patrick Hand" panose="00000500000000000000" pitchFamily="2" charset="0"/>
              </a:rPr>
              <a:t>Problem Statement</a:t>
            </a:r>
          </a:p>
        </p:txBody>
      </p:sp>
      <p:sp>
        <p:nvSpPr>
          <p:cNvPr id="3" name="Content Placeholder 2">
            <a:extLst>
              <a:ext uri="{FF2B5EF4-FFF2-40B4-BE49-F238E27FC236}">
                <a16:creationId xmlns:a16="http://schemas.microsoft.com/office/drawing/2014/main" id="{05136488-26BC-E7A9-55DB-E9FA687CBD6C}"/>
              </a:ext>
            </a:extLst>
          </p:cNvPr>
          <p:cNvSpPr>
            <a:spLocks noGrp="1"/>
          </p:cNvSpPr>
          <p:nvPr>
            <p:ph idx="1"/>
          </p:nvPr>
        </p:nvSpPr>
        <p:spPr/>
        <p:txBody>
          <a:bodyPr/>
          <a:lstStyle/>
          <a:p>
            <a:pPr marL="0" indent="0">
              <a:buNone/>
            </a:pPr>
            <a:r>
              <a:rPr lang="en-US" b="1" dirty="0">
                <a:latin typeface="Patrick Hand" panose="00000500000000000000" pitchFamily="2" charset="0"/>
              </a:rPr>
              <a:t>Current Challenges in Voting:</a:t>
            </a:r>
          </a:p>
          <a:p>
            <a:pPr marL="0" indent="0">
              <a:buNone/>
            </a:pPr>
            <a:endParaRPr lang="en-US" b="1" dirty="0">
              <a:latin typeface="Patrick Hand" panose="00000500000000000000" pitchFamily="2" charset="0"/>
            </a:endParaRPr>
          </a:p>
          <a:p>
            <a:pPr>
              <a:buFont typeface="Arial" panose="020B0604020202020204" pitchFamily="34" charset="0"/>
              <a:buChar char="•"/>
            </a:pPr>
            <a:r>
              <a:rPr lang="en-US" sz="2400" dirty="0"/>
              <a:t>Lack of transparency and trust in traditional voting systems.</a:t>
            </a:r>
          </a:p>
          <a:p>
            <a:pPr>
              <a:buFont typeface="Arial" panose="020B0604020202020204" pitchFamily="34" charset="0"/>
              <a:buChar char="•"/>
            </a:pPr>
            <a:endParaRPr lang="en-US" sz="2400" dirty="0"/>
          </a:p>
          <a:p>
            <a:pPr>
              <a:buFont typeface="Arial" panose="020B0604020202020204" pitchFamily="34" charset="0"/>
              <a:buChar char="•"/>
            </a:pPr>
            <a:r>
              <a:rPr lang="en-US" sz="2400" dirty="0"/>
              <a:t>Risks of fraud and manipulation.</a:t>
            </a:r>
          </a:p>
          <a:p>
            <a:pPr>
              <a:buFont typeface="Arial" panose="020B0604020202020204" pitchFamily="34" charset="0"/>
              <a:buChar char="•"/>
            </a:pPr>
            <a:endParaRPr lang="en-US" sz="2400" dirty="0"/>
          </a:p>
          <a:p>
            <a:pPr>
              <a:buFont typeface="Arial" panose="020B0604020202020204" pitchFamily="34" charset="0"/>
              <a:buChar char="•"/>
            </a:pPr>
            <a:r>
              <a:rPr lang="en-US" sz="2400" dirty="0"/>
              <a:t>Need for a secure, tamper-proof solution.</a:t>
            </a:r>
          </a:p>
          <a:p>
            <a:endParaRPr lang="en-IN" dirty="0"/>
          </a:p>
        </p:txBody>
      </p:sp>
    </p:spTree>
    <p:extLst>
      <p:ext uri="{BB962C8B-B14F-4D97-AF65-F5344CB8AC3E}">
        <p14:creationId xmlns:p14="http://schemas.microsoft.com/office/powerpoint/2010/main" val="78313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9A767-CFB6-E8F7-0FB0-72655DEBCD48}"/>
              </a:ext>
            </a:extLst>
          </p:cNvPr>
          <p:cNvSpPr>
            <a:spLocks noGrp="1"/>
          </p:cNvSpPr>
          <p:nvPr>
            <p:ph type="title"/>
          </p:nvPr>
        </p:nvSpPr>
        <p:spPr>
          <a:xfrm>
            <a:off x="838200" y="125744"/>
            <a:ext cx="10515600" cy="1110585"/>
          </a:xfrm>
        </p:spPr>
        <p:txBody>
          <a:bodyPr/>
          <a:lstStyle/>
          <a:p>
            <a:r>
              <a:rPr lang="en-US" dirty="0">
                <a:latin typeface="Patrick Hand" panose="00000500000000000000" pitchFamily="2" charset="0"/>
              </a:rPr>
              <a:t>How the Decentralized Voting App Works</a:t>
            </a:r>
            <a:endParaRPr lang="en-IN" dirty="0">
              <a:latin typeface="Patrick Hand" panose="00000500000000000000" pitchFamily="2" charset="0"/>
            </a:endParaRPr>
          </a:p>
        </p:txBody>
      </p:sp>
      <p:sp>
        <p:nvSpPr>
          <p:cNvPr id="3" name="Content Placeholder 2">
            <a:extLst>
              <a:ext uri="{FF2B5EF4-FFF2-40B4-BE49-F238E27FC236}">
                <a16:creationId xmlns:a16="http://schemas.microsoft.com/office/drawing/2014/main" id="{7850B359-9B3B-2675-319D-DB030C1471CB}"/>
              </a:ext>
            </a:extLst>
          </p:cNvPr>
          <p:cNvSpPr>
            <a:spLocks noGrp="1"/>
          </p:cNvSpPr>
          <p:nvPr>
            <p:ph idx="1"/>
          </p:nvPr>
        </p:nvSpPr>
        <p:spPr>
          <a:xfrm>
            <a:off x="838200" y="1120877"/>
            <a:ext cx="10515600" cy="5056086"/>
          </a:xfrm>
        </p:spPr>
        <p:txBody>
          <a:bodyPr>
            <a:normAutofit fontScale="62500" lnSpcReduction="20000"/>
          </a:bodyPr>
          <a:lstStyle/>
          <a:p>
            <a:pPr marL="0" indent="0">
              <a:buNone/>
            </a:pPr>
            <a:r>
              <a:rPr lang="en-US" sz="3200" b="1" dirty="0">
                <a:latin typeface="Patrick Hand" panose="00000500000000000000" pitchFamily="2" charset="0"/>
              </a:rPr>
              <a:t>Connect Wallet &amp; Register</a:t>
            </a:r>
          </a:p>
          <a:p>
            <a:r>
              <a:rPr lang="en-US" dirty="0">
                <a:latin typeface="Patrick Hand" panose="00000500000000000000" pitchFamily="2" charset="0"/>
              </a:rPr>
              <a:t>Voters link their Ethereum wallet to the app for identity verification.</a:t>
            </a:r>
          </a:p>
          <a:p>
            <a:r>
              <a:rPr lang="en-US" dirty="0">
                <a:latin typeface="Patrick Hand" panose="00000500000000000000" pitchFamily="2" charset="0"/>
              </a:rPr>
              <a:t>Each wallet is verified to ensure only eligible voters participate.</a:t>
            </a:r>
          </a:p>
          <a:p>
            <a:pPr marL="0" indent="0">
              <a:buNone/>
            </a:pPr>
            <a:r>
              <a:rPr lang="en-US" sz="3200" b="1" dirty="0">
                <a:latin typeface="Patrick Hand" panose="00000500000000000000" pitchFamily="2" charset="0"/>
              </a:rPr>
              <a:t>Select a Candidate</a:t>
            </a:r>
          </a:p>
          <a:p>
            <a:r>
              <a:rPr lang="en-US" dirty="0">
                <a:latin typeface="Patrick Hand" panose="00000500000000000000" pitchFamily="2" charset="0"/>
              </a:rPr>
              <a:t>Voters choose their preferred candidate or option from the list displayed in the app.</a:t>
            </a:r>
          </a:p>
          <a:p>
            <a:r>
              <a:rPr lang="en-US" dirty="0">
                <a:latin typeface="Patrick Hand" panose="00000500000000000000" pitchFamily="2" charset="0"/>
              </a:rPr>
              <a:t>The vote is prepared as a transaction for the blockchain.</a:t>
            </a:r>
          </a:p>
          <a:p>
            <a:pPr marL="0" indent="0">
              <a:buNone/>
            </a:pPr>
            <a:r>
              <a:rPr lang="en-US" sz="3200" b="1" dirty="0">
                <a:latin typeface="Patrick Hand" panose="00000500000000000000" pitchFamily="2" charset="0"/>
              </a:rPr>
              <a:t>Cast Vote via Blockchain</a:t>
            </a:r>
          </a:p>
          <a:p>
            <a:r>
              <a:rPr lang="en-US" dirty="0">
                <a:latin typeface="Patrick Hand" panose="00000500000000000000" pitchFamily="2" charset="0"/>
              </a:rPr>
              <a:t>Voters cast their vote by confirming the transaction through their wallet.</a:t>
            </a:r>
          </a:p>
          <a:p>
            <a:r>
              <a:rPr lang="en-US" dirty="0">
                <a:latin typeface="Patrick Hand" panose="00000500000000000000" pitchFamily="2" charset="0"/>
              </a:rPr>
              <a:t>The vote is recorded on the Ethereum blockchain, making it permanent and tamper-proof.</a:t>
            </a:r>
          </a:p>
          <a:p>
            <a:pPr marL="0" indent="0">
              <a:buNone/>
            </a:pPr>
            <a:r>
              <a:rPr lang="en-US" sz="3200" b="1" dirty="0">
                <a:latin typeface="Patrick Hand" panose="00000500000000000000" pitchFamily="2" charset="0"/>
              </a:rPr>
              <a:t>Automatic Vote Tallying</a:t>
            </a:r>
          </a:p>
          <a:p>
            <a:r>
              <a:rPr lang="en-US" dirty="0">
                <a:latin typeface="Patrick Hand" panose="00000500000000000000" pitchFamily="2" charset="0"/>
              </a:rPr>
              <a:t>The smart contract automatically counts all votes as they are submitted.</a:t>
            </a:r>
          </a:p>
          <a:p>
            <a:r>
              <a:rPr lang="en-US" dirty="0">
                <a:latin typeface="Patrick Hand" panose="00000500000000000000" pitchFamily="2" charset="0"/>
              </a:rPr>
              <a:t>No manual intervention is needed—results are calculated in real-time.</a:t>
            </a:r>
          </a:p>
          <a:p>
            <a:pPr marL="0" indent="0">
              <a:buNone/>
            </a:pPr>
            <a:r>
              <a:rPr lang="en-US" sz="3200" b="1" dirty="0">
                <a:latin typeface="Patrick Hand" panose="00000500000000000000" pitchFamily="2" charset="0"/>
              </a:rPr>
              <a:t>Results Published</a:t>
            </a:r>
          </a:p>
          <a:p>
            <a:r>
              <a:rPr lang="en-US" dirty="0">
                <a:latin typeface="Patrick Hand" panose="00000500000000000000" pitchFamily="2" charset="0"/>
              </a:rPr>
              <a:t>After the voting period ends, final results are published on the blockchain.</a:t>
            </a:r>
          </a:p>
          <a:p>
            <a:r>
              <a:rPr lang="en-US" dirty="0">
                <a:latin typeface="Patrick Hand" panose="00000500000000000000" pitchFamily="2" charset="0"/>
              </a:rPr>
              <a:t>Results can be viewed in the app and verified publicly on the Ethereum network.</a:t>
            </a:r>
            <a:endParaRPr lang="en-IN" dirty="0">
              <a:latin typeface="Patrick Hand" panose="00000500000000000000" pitchFamily="2" charset="0"/>
            </a:endParaRPr>
          </a:p>
          <a:p>
            <a:endParaRPr lang="en-IN" dirty="0">
              <a:latin typeface="Patrick Hand" panose="00000500000000000000" pitchFamily="2" charset="0"/>
            </a:endParaRPr>
          </a:p>
          <a:p>
            <a:endParaRPr lang="en-IN" dirty="0">
              <a:latin typeface="Patrick Hand" panose="00000500000000000000" pitchFamily="2" charset="0"/>
            </a:endParaRPr>
          </a:p>
          <a:p>
            <a:endParaRPr lang="en-IN" dirty="0">
              <a:latin typeface="Patrick Hand" panose="00000500000000000000" pitchFamily="2" charset="0"/>
            </a:endParaRPr>
          </a:p>
          <a:p>
            <a:endParaRPr lang="en-IN" dirty="0">
              <a:latin typeface="Patrick Hand" panose="00000500000000000000" pitchFamily="2" charset="0"/>
            </a:endParaRPr>
          </a:p>
          <a:p>
            <a:endParaRPr lang="en-IN" dirty="0">
              <a:latin typeface="Patrick Hand" panose="00000500000000000000" pitchFamily="2" charset="0"/>
            </a:endParaRPr>
          </a:p>
          <a:p>
            <a:endParaRPr lang="en-IN" dirty="0">
              <a:latin typeface="Patrick Hand" panose="00000500000000000000" pitchFamily="2" charset="0"/>
            </a:endParaRPr>
          </a:p>
          <a:p>
            <a:endParaRPr lang="en-IN" dirty="0">
              <a:latin typeface="Patrick Hand" panose="00000500000000000000" pitchFamily="2" charset="0"/>
            </a:endParaRPr>
          </a:p>
          <a:p>
            <a:endParaRPr lang="en-IN" dirty="0">
              <a:latin typeface="Patrick Hand" panose="00000500000000000000" pitchFamily="2" charset="0"/>
            </a:endParaRPr>
          </a:p>
          <a:p>
            <a:pPr marL="0" indent="0">
              <a:buNone/>
            </a:pPr>
            <a:endParaRPr lang="en-IN" dirty="0">
              <a:latin typeface="Patrick Hand" panose="00000500000000000000" pitchFamily="2" charset="0"/>
            </a:endParaRPr>
          </a:p>
        </p:txBody>
      </p:sp>
    </p:spTree>
    <p:extLst>
      <p:ext uri="{BB962C8B-B14F-4D97-AF65-F5344CB8AC3E}">
        <p14:creationId xmlns:p14="http://schemas.microsoft.com/office/powerpoint/2010/main" val="3896630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20031" y="1578324"/>
            <a:ext cx="4947841" cy="514251"/>
          </a:xfrm>
          <a:prstGeom prst="rect">
            <a:avLst/>
          </a:prstGeom>
          <a:noFill/>
          <a:ln/>
        </p:spPr>
        <p:txBody>
          <a:bodyPr wrap="none" lIns="0" tIns="0" rIns="0" bIns="0" rtlCol="0" anchor="t"/>
          <a:lstStyle/>
          <a:p>
            <a:pPr>
              <a:lnSpc>
                <a:spcPts val="4042"/>
              </a:lnSpc>
            </a:pPr>
            <a:r>
              <a:rPr lang="en-IN" sz="3600" dirty="0">
                <a:latin typeface="Patrick Hand" panose="00000500000000000000" pitchFamily="2" charset="0"/>
              </a:rPr>
              <a:t>Technologies</a:t>
            </a:r>
            <a:r>
              <a:rPr lang="en-IN" sz="3600" dirty="0"/>
              <a:t> Used:</a:t>
            </a:r>
            <a:endParaRPr lang="en-US" sz="3208" dirty="0"/>
          </a:p>
        </p:txBody>
      </p:sp>
      <p:sp>
        <p:nvSpPr>
          <p:cNvPr id="3" name="Text 1"/>
          <p:cNvSpPr/>
          <p:nvPr/>
        </p:nvSpPr>
        <p:spPr>
          <a:xfrm>
            <a:off x="720031" y="2629521"/>
            <a:ext cx="2057400" cy="257175"/>
          </a:xfrm>
          <a:prstGeom prst="rect">
            <a:avLst/>
          </a:prstGeom>
          <a:noFill/>
          <a:ln/>
        </p:spPr>
        <p:txBody>
          <a:bodyPr wrap="none" lIns="0" tIns="0" rIns="0" bIns="0" rtlCol="0" anchor="t"/>
          <a:lstStyle/>
          <a:p>
            <a:pPr>
              <a:lnSpc>
                <a:spcPts val="2000"/>
              </a:lnSpc>
            </a:pPr>
            <a:r>
              <a:rPr lang="en-IN" sz="2000" b="1" dirty="0">
                <a:latin typeface="Patrick Hand" panose="00000500000000000000" pitchFamily="2" charset="0"/>
              </a:rPr>
              <a:t>Solidity</a:t>
            </a:r>
            <a:endParaRPr lang="en-US" sz="2000" b="1" dirty="0">
              <a:latin typeface="Patrick Hand" panose="00000500000000000000" pitchFamily="2" charset="0"/>
            </a:endParaRPr>
          </a:p>
        </p:txBody>
      </p:sp>
      <p:sp>
        <p:nvSpPr>
          <p:cNvPr id="4" name="Text 2"/>
          <p:cNvSpPr/>
          <p:nvPr/>
        </p:nvSpPr>
        <p:spPr>
          <a:xfrm>
            <a:off x="720031" y="3187668"/>
            <a:ext cx="3249018" cy="2131584"/>
          </a:xfrm>
          <a:prstGeom prst="rect">
            <a:avLst/>
          </a:prstGeom>
          <a:noFill/>
          <a:ln/>
        </p:spPr>
        <p:txBody>
          <a:bodyPr wrap="square" lIns="0" tIns="0" rIns="0" bIns="0" rtlCol="0" anchor="t"/>
          <a:lstStyle/>
          <a:p>
            <a:pPr>
              <a:lnSpc>
                <a:spcPts val="2583"/>
              </a:lnSpc>
            </a:pPr>
            <a:r>
              <a:rPr lang="en-US" sz="1600" dirty="0"/>
              <a:t>The smart contract language used to define and implement the voting logic. All voting rules, candidate registration, and vote tallying are securely coded in Solidity, ensuring tamper-proof functionality on the blockchain.</a:t>
            </a:r>
            <a:endParaRPr lang="en-US" sz="1583" dirty="0"/>
          </a:p>
        </p:txBody>
      </p:sp>
      <p:sp>
        <p:nvSpPr>
          <p:cNvPr id="5" name="Text 3"/>
          <p:cNvSpPr/>
          <p:nvPr/>
        </p:nvSpPr>
        <p:spPr>
          <a:xfrm>
            <a:off x="4477246" y="2629521"/>
            <a:ext cx="2057400" cy="257175"/>
          </a:xfrm>
          <a:prstGeom prst="rect">
            <a:avLst/>
          </a:prstGeom>
          <a:noFill/>
          <a:ln/>
        </p:spPr>
        <p:txBody>
          <a:bodyPr wrap="none" lIns="0" tIns="0" rIns="0" bIns="0" rtlCol="0" anchor="t"/>
          <a:lstStyle/>
          <a:p>
            <a:pPr>
              <a:lnSpc>
                <a:spcPts val="2000"/>
              </a:lnSpc>
            </a:pPr>
            <a:r>
              <a:rPr lang="en-IN" sz="2000" b="1" dirty="0">
                <a:latin typeface="Patrick Hand" panose="00000500000000000000" pitchFamily="2" charset="0"/>
              </a:rPr>
              <a:t>Ethereum</a:t>
            </a:r>
            <a:r>
              <a:rPr lang="en-IN" sz="1600" b="1" dirty="0">
                <a:latin typeface="Patrick Hand" panose="00000500000000000000" pitchFamily="2" charset="0"/>
              </a:rPr>
              <a:t> Blockchain</a:t>
            </a:r>
            <a:endParaRPr lang="en-US" sz="1583" b="1" dirty="0">
              <a:latin typeface="Patrick Hand" panose="00000500000000000000" pitchFamily="2" charset="0"/>
            </a:endParaRPr>
          </a:p>
        </p:txBody>
      </p:sp>
      <p:sp>
        <p:nvSpPr>
          <p:cNvPr id="6" name="Text 4"/>
          <p:cNvSpPr/>
          <p:nvPr/>
        </p:nvSpPr>
        <p:spPr>
          <a:xfrm>
            <a:off x="4477246" y="3219181"/>
            <a:ext cx="3249018" cy="2357726"/>
          </a:xfrm>
          <a:prstGeom prst="rect">
            <a:avLst/>
          </a:prstGeom>
          <a:noFill/>
          <a:ln/>
        </p:spPr>
        <p:txBody>
          <a:bodyPr wrap="square" lIns="0" tIns="0" rIns="0" bIns="0" rtlCol="0" anchor="t"/>
          <a:lstStyle/>
          <a:p>
            <a:pPr>
              <a:lnSpc>
                <a:spcPts val="2583"/>
              </a:lnSpc>
            </a:pPr>
            <a:r>
              <a:rPr lang="en-US" sz="1600" dirty="0"/>
              <a:t>Provides a decentralized network where the voting transactions are recorded. Every interaction, such as casting votes or retrieving results, happens on the Ethereum network, making the process transparent and secure</a:t>
            </a:r>
            <a:endParaRPr lang="en-US" sz="1583" dirty="0"/>
          </a:p>
        </p:txBody>
      </p:sp>
      <p:sp>
        <p:nvSpPr>
          <p:cNvPr id="7" name="Text 5"/>
          <p:cNvSpPr/>
          <p:nvPr/>
        </p:nvSpPr>
        <p:spPr>
          <a:xfrm>
            <a:off x="8234461" y="2629520"/>
            <a:ext cx="2057400" cy="257175"/>
          </a:xfrm>
          <a:prstGeom prst="rect">
            <a:avLst/>
          </a:prstGeom>
          <a:noFill/>
          <a:ln/>
        </p:spPr>
        <p:txBody>
          <a:bodyPr wrap="none" lIns="0" tIns="0" rIns="0" bIns="0" rtlCol="0" anchor="t"/>
          <a:lstStyle/>
          <a:p>
            <a:pPr>
              <a:lnSpc>
                <a:spcPts val="2000"/>
              </a:lnSpc>
            </a:pPr>
            <a:r>
              <a:rPr lang="en-IN" sz="1600" b="1" dirty="0"/>
              <a:t>ReactJS</a:t>
            </a:r>
            <a:endParaRPr lang="en-US" sz="1583" dirty="0"/>
          </a:p>
        </p:txBody>
      </p:sp>
      <p:sp>
        <p:nvSpPr>
          <p:cNvPr id="8" name="Text 6"/>
          <p:cNvSpPr/>
          <p:nvPr/>
        </p:nvSpPr>
        <p:spPr>
          <a:xfrm>
            <a:off x="8234461" y="3187668"/>
            <a:ext cx="3249018" cy="2593700"/>
          </a:xfrm>
          <a:prstGeom prst="rect">
            <a:avLst/>
          </a:prstGeom>
          <a:noFill/>
          <a:ln/>
        </p:spPr>
        <p:txBody>
          <a:bodyPr wrap="square" lIns="0" tIns="0" rIns="0" bIns="0" rtlCol="0" anchor="t"/>
          <a:lstStyle/>
          <a:p>
            <a:pPr>
              <a:lnSpc>
                <a:spcPts val="2583"/>
              </a:lnSpc>
            </a:pPr>
            <a:r>
              <a:rPr lang="en-US" sz="1600" dirty="0"/>
              <a:t>The user interface for the application is built with ReactJS, allowing voters to interact seamlessly with the smart contract on Ethereum. Through MetaMask integration, users can cast their votes while directly interacting with the blockchain from their browsers.</a:t>
            </a:r>
            <a:endParaRPr lang="en-US" sz="1583"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7B0FB-2547-146C-65B9-76E581B518A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B438ADB-3770-1C34-C922-FEC090D8B83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0D70A84-F875-3E95-3DC2-E30E6E39392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902829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027FA-23FE-3D76-CAD9-AD9AF77B7E04}"/>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E05989D0-261C-0746-D839-855BEB6FD288}"/>
              </a:ext>
            </a:extLst>
          </p:cNvPr>
          <p:cNvSpPr>
            <a:spLocks noGrp="1"/>
          </p:cNvSpPr>
          <p:nvPr>
            <p:ph type="subTitle" idx="1"/>
          </p:nvPr>
        </p:nvSpPr>
        <p:spPr/>
        <p:txBody>
          <a:bodyPr/>
          <a:lstStyle/>
          <a:p>
            <a:endParaRPr lang="en-IN" dirty="0"/>
          </a:p>
        </p:txBody>
      </p:sp>
      <p:pic>
        <p:nvPicPr>
          <p:cNvPr id="5" name="Picture 4">
            <a:extLst>
              <a:ext uri="{FF2B5EF4-FFF2-40B4-BE49-F238E27FC236}">
                <a16:creationId xmlns:a16="http://schemas.microsoft.com/office/drawing/2014/main" id="{26809850-C544-5668-C20C-2CD3F7815D7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912587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2000" cy="6858000"/>
          </a:xfrm>
          <a:prstGeom prst="rect">
            <a:avLst/>
          </a:prstGeom>
        </p:spPr>
      </p:pic>
      <p:sp>
        <p:nvSpPr>
          <p:cNvPr id="3" name="Text 0"/>
          <p:cNvSpPr/>
          <p:nvPr/>
        </p:nvSpPr>
        <p:spPr>
          <a:xfrm>
            <a:off x="5292031" y="1099245"/>
            <a:ext cx="4114800" cy="514251"/>
          </a:xfrm>
          <a:prstGeom prst="rect">
            <a:avLst/>
          </a:prstGeom>
          <a:noFill/>
          <a:ln/>
        </p:spPr>
        <p:txBody>
          <a:bodyPr wrap="none" lIns="0" tIns="0" rIns="0" bIns="0" rtlCol="0" anchor="t"/>
          <a:lstStyle/>
          <a:p>
            <a:pPr>
              <a:lnSpc>
                <a:spcPts val="4042"/>
              </a:lnSpc>
            </a:pPr>
            <a:r>
              <a:rPr lang="en-US" sz="3208" dirty="0">
                <a:solidFill>
                  <a:srgbClr val="383838"/>
                </a:solidFill>
                <a:latin typeface="Patrick Hand" pitchFamily="34" charset="0"/>
                <a:ea typeface="Patrick Hand" pitchFamily="34" charset="-122"/>
                <a:cs typeface="Patrick Hand" pitchFamily="34" charset="-120"/>
              </a:rPr>
              <a:t>Deployment and Demo</a:t>
            </a:r>
            <a:endParaRPr lang="en-US" sz="3208" dirty="0"/>
          </a:p>
        </p:txBody>
      </p:sp>
      <p:sp>
        <p:nvSpPr>
          <p:cNvPr id="4" name="Shape 1"/>
          <p:cNvSpPr/>
          <p:nvPr/>
        </p:nvSpPr>
        <p:spPr>
          <a:xfrm>
            <a:off x="5292031" y="1922066"/>
            <a:ext cx="6179939" cy="3836591"/>
          </a:xfrm>
          <a:prstGeom prst="roundRect">
            <a:avLst>
              <a:gd name="adj" fmla="val 2252"/>
            </a:avLst>
          </a:prstGeom>
          <a:noFill/>
          <a:ln w="15240">
            <a:solidFill>
              <a:srgbClr val="000000">
                <a:alpha val="8000"/>
              </a:srgbClr>
            </a:solidFill>
            <a:prstDash val="solid"/>
          </a:ln>
        </p:spPr>
      </p:sp>
      <p:sp>
        <p:nvSpPr>
          <p:cNvPr id="5" name="Shape 2"/>
          <p:cNvSpPr/>
          <p:nvPr/>
        </p:nvSpPr>
        <p:spPr>
          <a:xfrm>
            <a:off x="5304731" y="1934766"/>
            <a:ext cx="6154539" cy="1905595"/>
          </a:xfrm>
          <a:prstGeom prst="rect">
            <a:avLst/>
          </a:prstGeom>
          <a:solidFill>
            <a:srgbClr val="FFFFFF">
              <a:alpha val="4000"/>
            </a:srgbClr>
          </a:solidFill>
          <a:ln/>
        </p:spPr>
      </p:sp>
      <p:sp>
        <p:nvSpPr>
          <p:cNvPr id="6" name="Text 3"/>
          <p:cNvSpPr/>
          <p:nvPr/>
        </p:nvSpPr>
        <p:spPr>
          <a:xfrm>
            <a:off x="5510411" y="2064544"/>
            <a:ext cx="2662733" cy="329208"/>
          </a:xfrm>
          <a:prstGeom prst="rect">
            <a:avLst/>
          </a:prstGeom>
          <a:noFill/>
          <a:ln/>
        </p:spPr>
        <p:txBody>
          <a:bodyPr wrap="none" lIns="0" tIns="0" rIns="0" bIns="0" rtlCol="0" anchor="t"/>
          <a:lstStyle/>
          <a:p>
            <a:pPr>
              <a:lnSpc>
                <a:spcPts val="2583"/>
              </a:lnSpc>
            </a:pPr>
            <a:r>
              <a:rPr lang="en-US" sz="1583" dirty="0">
                <a:solidFill>
                  <a:srgbClr val="383838"/>
                </a:solidFill>
                <a:latin typeface="Patrick Hand" pitchFamily="34" charset="0"/>
                <a:ea typeface="Patrick Hand" pitchFamily="34" charset="-122"/>
                <a:cs typeface="Patrick Hand" pitchFamily="34" charset="-120"/>
              </a:rPr>
              <a:t>Deployment</a:t>
            </a:r>
            <a:endParaRPr lang="en-US" sz="1583" dirty="0"/>
          </a:p>
        </p:txBody>
      </p:sp>
      <p:sp>
        <p:nvSpPr>
          <p:cNvPr id="7" name="Text 4"/>
          <p:cNvSpPr/>
          <p:nvPr/>
        </p:nvSpPr>
        <p:spPr>
          <a:xfrm>
            <a:off x="8590856" y="2064545"/>
            <a:ext cx="2662733" cy="1646039"/>
          </a:xfrm>
          <a:prstGeom prst="rect">
            <a:avLst/>
          </a:prstGeom>
          <a:noFill/>
          <a:ln/>
        </p:spPr>
        <p:txBody>
          <a:bodyPr wrap="square" lIns="0" tIns="0" rIns="0" bIns="0" rtlCol="0" anchor="t"/>
          <a:lstStyle/>
          <a:p>
            <a:pPr>
              <a:lnSpc>
                <a:spcPts val="2583"/>
              </a:lnSpc>
            </a:pPr>
            <a:r>
              <a:rPr lang="en-US" sz="1583" dirty="0">
                <a:solidFill>
                  <a:srgbClr val="383838"/>
                </a:solidFill>
                <a:latin typeface="Patrick Hand" pitchFamily="34" charset="0"/>
                <a:ea typeface="Patrick Hand" pitchFamily="34" charset="-122"/>
                <a:cs typeface="Patrick Hand" pitchFamily="34" charset="-120"/>
              </a:rPr>
              <a:t>Package the decentralized voting application, including the smart contract and front-end, for seamless deployment on a cloud platform or a distributed network.</a:t>
            </a:r>
            <a:endParaRPr lang="en-US" sz="1583" dirty="0"/>
          </a:p>
        </p:txBody>
      </p:sp>
      <p:sp>
        <p:nvSpPr>
          <p:cNvPr id="8" name="Shape 5"/>
          <p:cNvSpPr/>
          <p:nvPr/>
        </p:nvSpPr>
        <p:spPr>
          <a:xfrm>
            <a:off x="5304731" y="3840361"/>
            <a:ext cx="6154539" cy="1905595"/>
          </a:xfrm>
          <a:prstGeom prst="rect">
            <a:avLst/>
          </a:prstGeom>
          <a:solidFill>
            <a:srgbClr val="000000">
              <a:alpha val="4000"/>
            </a:srgbClr>
          </a:solidFill>
          <a:ln/>
        </p:spPr>
      </p:sp>
      <p:sp>
        <p:nvSpPr>
          <p:cNvPr id="9" name="Text 6"/>
          <p:cNvSpPr/>
          <p:nvPr/>
        </p:nvSpPr>
        <p:spPr>
          <a:xfrm>
            <a:off x="5510411" y="3970139"/>
            <a:ext cx="2662733" cy="329208"/>
          </a:xfrm>
          <a:prstGeom prst="rect">
            <a:avLst/>
          </a:prstGeom>
          <a:noFill/>
          <a:ln/>
        </p:spPr>
        <p:txBody>
          <a:bodyPr wrap="none" lIns="0" tIns="0" rIns="0" bIns="0" rtlCol="0" anchor="t"/>
          <a:lstStyle/>
          <a:p>
            <a:pPr>
              <a:lnSpc>
                <a:spcPts val="2583"/>
              </a:lnSpc>
            </a:pPr>
            <a:r>
              <a:rPr lang="en-US" sz="1583" dirty="0">
                <a:solidFill>
                  <a:srgbClr val="383838"/>
                </a:solidFill>
                <a:latin typeface="Patrick Hand" pitchFamily="34" charset="0"/>
                <a:ea typeface="Patrick Hand" pitchFamily="34" charset="-122"/>
                <a:cs typeface="Patrick Hand" pitchFamily="34" charset="-120"/>
              </a:rPr>
              <a:t>Demo</a:t>
            </a:r>
            <a:endParaRPr lang="en-US" sz="1583" dirty="0"/>
          </a:p>
        </p:txBody>
      </p:sp>
      <p:sp>
        <p:nvSpPr>
          <p:cNvPr id="10" name="Text 7"/>
          <p:cNvSpPr/>
          <p:nvPr/>
        </p:nvSpPr>
        <p:spPr>
          <a:xfrm>
            <a:off x="8590856" y="3970140"/>
            <a:ext cx="2662733" cy="1646039"/>
          </a:xfrm>
          <a:prstGeom prst="rect">
            <a:avLst/>
          </a:prstGeom>
          <a:noFill/>
          <a:ln/>
        </p:spPr>
        <p:txBody>
          <a:bodyPr wrap="square" lIns="0" tIns="0" rIns="0" bIns="0" rtlCol="0" anchor="t"/>
          <a:lstStyle/>
          <a:p>
            <a:pPr>
              <a:lnSpc>
                <a:spcPts val="2583"/>
              </a:lnSpc>
            </a:pPr>
            <a:r>
              <a:rPr lang="en-US" sz="1583" dirty="0">
                <a:solidFill>
                  <a:srgbClr val="383838"/>
                </a:solidFill>
                <a:latin typeface="Patrick Hand" pitchFamily="34" charset="0"/>
                <a:ea typeface="Patrick Hand" pitchFamily="34" charset="-122"/>
                <a:cs typeface="Patrick Hand" pitchFamily="34" charset="-120"/>
              </a:rPr>
              <a:t>Showcase the full functionality of the decentralized voting application, highlighting its secure, transparent, and tamper-resistant features.</a:t>
            </a:r>
            <a:endParaRPr lang="en-US" sz="1583"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77E4B-0342-0090-7249-9C6BAEE0D879}"/>
              </a:ext>
            </a:extLst>
          </p:cNvPr>
          <p:cNvSpPr>
            <a:spLocks noGrp="1"/>
          </p:cNvSpPr>
          <p:nvPr>
            <p:ph type="title"/>
          </p:nvPr>
        </p:nvSpPr>
        <p:spPr>
          <a:xfrm>
            <a:off x="838200" y="365125"/>
            <a:ext cx="10515600" cy="785249"/>
          </a:xfrm>
        </p:spPr>
        <p:txBody>
          <a:bodyPr>
            <a:normAutofit/>
          </a:bodyPr>
          <a:lstStyle/>
          <a:p>
            <a:r>
              <a:rPr lang="en-US" dirty="0">
                <a:latin typeface="Patrick Hand" panose="00000500000000000000" pitchFamily="2" charset="0"/>
              </a:rPr>
              <a:t>Key Benefits of Decentralized Voting Application</a:t>
            </a:r>
            <a:endParaRPr lang="en-IN" dirty="0">
              <a:latin typeface="Patrick Hand" panose="00000500000000000000" pitchFamily="2" charset="0"/>
            </a:endParaRPr>
          </a:p>
        </p:txBody>
      </p:sp>
      <p:sp>
        <p:nvSpPr>
          <p:cNvPr id="4" name="Rectangle 1">
            <a:extLst>
              <a:ext uri="{FF2B5EF4-FFF2-40B4-BE49-F238E27FC236}">
                <a16:creationId xmlns:a16="http://schemas.microsoft.com/office/drawing/2014/main" id="{60DB082D-92CF-2E71-BBD7-821662C181F7}"/>
              </a:ext>
            </a:extLst>
          </p:cNvPr>
          <p:cNvSpPr>
            <a:spLocks noGrp="1" noChangeArrowheads="1"/>
          </p:cNvSpPr>
          <p:nvPr>
            <p:ph idx="1"/>
          </p:nvPr>
        </p:nvSpPr>
        <p:spPr bwMode="auto">
          <a:xfrm>
            <a:off x="324464" y="1504409"/>
            <a:ext cx="11572567"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Patrick Hand" panose="00000500000000000000" pitchFamily="2" charset="0"/>
              </a:rPr>
              <a:t>Transparency and Trust</a:t>
            </a:r>
            <a:r>
              <a:rPr kumimoji="0" lang="en-US" altLang="en-US" sz="2000" b="0" i="0" u="none" strike="noStrike" cap="none" normalizeH="0" baseline="0" dirty="0">
                <a:ln>
                  <a:noFill/>
                </a:ln>
                <a:solidFill>
                  <a:schemeClr val="tx1"/>
                </a:solidFill>
                <a:effectLst/>
                <a:latin typeface="Patrick Hand" panose="00000500000000000000" pitchFamily="2"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Patrick Hand" panose="00000500000000000000" pitchFamily="2" charset="0"/>
              </a:rPr>
              <a:t>All votes are publicly recorded on the blockchain, providing a clear and transparent process.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Patrick Hand" panose="00000500000000000000" pitchFamily="2" charset="0"/>
              </a:rPr>
              <a:t>Voters and third parties can verify election results independently, building trust in the system.</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Patrick Hand" panose="00000500000000000000" pitchFamily="2" charset="0"/>
              </a:rPr>
              <a:t>Immutable and Tamper-Proof</a:t>
            </a:r>
            <a:r>
              <a:rPr kumimoji="0" lang="en-US" altLang="en-US" sz="2000" b="0" i="0" u="none" strike="noStrike" cap="none" normalizeH="0" baseline="0" dirty="0">
                <a:ln>
                  <a:noFill/>
                </a:ln>
                <a:solidFill>
                  <a:schemeClr val="tx1"/>
                </a:solidFill>
                <a:effectLst/>
                <a:latin typeface="Patrick Hand" panose="00000500000000000000" pitchFamily="2"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Patrick Hand" panose="00000500000000000000" pitchFamily="2" charset="0"/>
              </a:rPr>
              <a:t>Once recorded, votes cannot be altered or deleted, ensuring election integrity and preventing fraud.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Patrick Hand" panose="00000500000000000000" pitchFamily="2" charset="0"/>
              </a:rPr>
              <a:t>The blockchain's immutability guarantees that the voting history remains unchanged.</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Patrick Hand" panose="00000500000000000000" pitchFamily="2" charset="0"/>
              </a:rPr>
              <a:t>Secure Identity Verification</a:t>
            </a:r>
            <a:r>
              <a:rPr kumimoji="0" lang="en-US" altLang="en-US" sz="2000" b="0" i="0" u="none" strike="noStrike" cap="none" normalizeH="0" baseline="0" dirty="0">
                <a:ln>
                  <a:noFill/>
                </a:ln>
                <a:solidFill>
                  <a:schemeClr val="tx1"/>
                </a:solidFill>
                <a:effectLst/>
                <a:latin typeface="Patrick Hand" panose="00000500000000000000" pitchFamily="2"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Patrick Hand" panose="00000500000000000000" pitchFamily="2" charset="0"/>
              </a:rPr>
              <a:t>Cryptographic methods ensure that only legitimate voters can participate.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Patrick Hand" panose="00000500000000000000" pitchFamily="2" charset="0"/>
              </a:rPr>
              <a:t>Each voter’s identity is tied to their Ethereum wallet, preventing identity fraud and vote duplication.</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Patrick Hand" panose="00000500000000000000" pitchFamily="2" charset="0"/>
              </a:rPr>
              <a:t>Decentralized Governance</a:t>
            </a:r>
            <a:r>
              <a:rPr kumimoji="0" lang="en-US" altLang="en-US" sz="2000" b="0" i="0" u="none" strike="noStrike" cap="none" normalizeH="0" baseline="0" dirty="0">
                <a:ln>
                  <a:noFill/>
                </a:ln>
                <a:solidFill>
                  <a:schemeClr val="tx1"/>
                </a:solidFill>
                <a:effectLst/>
                <a:latin typeface="Patrick Hand" panose="00000500000000000000" pitchFamily="2"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Patrick Hand" panose="00000500000000000000" pitchFamily="2" charset="0"/>
              </a:rPr>
              <a:t>Smart contracts govern the voting process, eliminating the need for centralized authorities.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Patrick Hand" panose="00000500000000000000" pitchFamily="2" charset="0"/>
              </a:rPr>
              <a:t>Voting rules and results are enforced automatically, reducing the risk of manipulation or human error.</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Patrick Hand" panose="00000500000000000000" pitchFamily="2" charset="0"/>
              </a:rPr>
              <a:t>Global Accessibility</a:t>
            </a:r>
            <a:r>
              <a:rPr kumimoji="0" lang="en-US" altLang="en-US" sz="2000" b="0" i="0" u="none" strike="noStrike" cap="none" normalizeH="0" baseline="0" dirty="0">
                <a:ln>
                  <a:noFill/>
                </a:ln>
                <a:solidFill>
                  <a:schemeClr val="tx1"/>
                </a:solidFill>
                <a:effectLst/>
                <a:latin typeface="Patrick Hand" panose="00000500000000000000" pitchFamily="2"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Patrick Hand" panose="00000500000000000000" pitchFamily="2" charset="0"/>
              </a:rPr>
              <a:t>Voters can cast their votes from anywhere in the world, enabling wider participation, especially in global or large-scale elections.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Patrick Hand" panose="00000500000000000000" pitchFamily="2" charset="0"/>
              </a:rPr>
              <a:t>Only a blockchain-connected device is required for participation, making the process highly inclusive.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Patrick Hand" panose="00000500000000000000" pitchFamily="2" charset="0"/>
            </a:endParaRPr>
          </a:p>
        </p:txBody>
      </p:sp>
    </p:spTree>
    <p:extLst>
      <p:ext uri="{BB962C8B-B14F-4D97-AF65-F5344CB8AC3E}">
        <p14:creationId xmlns:p14="http://schemas.microsoft.com/office/powerpoint/2010/main" val="3842639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903AB98-097D-AA80-AF7B-18D3CAB663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2020" y="140685"/>
            <a:ext cx="10607959" cy="6576630"/>
          </a:xfrm>
        </p:spPr>
      </p:pic>
    </p:spTree>
    <p:extLst>
      <p:ext uri="{BB962C8B-B14F-4D97-AF65-F5344CB8AC3E}">
        <p14:creationId xmlns:p14="http://schemas.microsoft.com/office/powerpoint/2010/main" val="2730724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716</Words>
  <Application>Microsoft Office PowerPoint</Application>
  <PresentationFormat>Widescreen</PresentationFormat>
  <Paragraphs>88</Paragraphs>
  <Slides>12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Patrick Hand</vt:lpstr>
      <vt:lpstr>Office Theme</vt:lpstr>
      <vt:lpstr>PowerPoint Presentation</vt:lpstr>
      <vt:lpstr>PowerPoint Presentation</vt:lpstr>
      <vt:lpstr>Technology Stack</vt:lpstr>
      <vt:lpstr>PowerPoint Presentation</vt:lpstr>
      <vt:lpstr>Problem Statement</vt:lpstr>
      <vt:lpstr>How the Decentralized Voting App Works</vt:lpstr>
      <vt:lpstr>PowerPoint Presentation</vt:lpstr>
      <vt:lpstr>PowerPoint Presentation</vt:lpstr>
      <vt:lpstr>PowerPoint Presentation</vt:lpstr>
      <vt:lpstr>PowerPoint Presentation</vt:lpstr>
      <vt:lpstr>Key Benefits of Decentralized Voting Application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Sanjith MS</dc:creator>
  <cp:lastModifiedBy>Sanjith MS</cp:lastModifiedBy>
  <cp:revision>1</cp:revision>
  <dcterms:created xsi:type="dcterms:W3CDTF">2024-10-20T18:28:13Z</dcterms:created>
  <dcterms:modified xsi:type="dcterms:W3CDTF">2024-10-20T19:37:36Z</dcterms:modified>
</cp:coreProperties>
</file>